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image" Target="../media/image-1002-4.png"/><Relationship Id="rId5" Type="http://schemas.openxmlformats.org/officeDocument/2006/relationships/image" Target="../media/image-1002-5.png"/><Relationship Id="rId6" Type="http://schemas.openxmlformats.org/officeDocument/2006/relationships/image" Target="../media/image-1002-6.png"/><Relationship Id="rId7" Type="http://schemas.openxmlformats.org/officeDocument/2006/relationships/image" Target="../media/image-1002-7.png"/><Relationship Id="rId8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SION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Applications-XAMPP-xamppfiles-htdocs-hackathon/dcf9ca28-56d8-4579-98cf-baafdae8adea/scratchpad/ppt/tpl/logo-0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813816" y="1353312"/>
            <a:ext cx="6830568" cy="2578608"/>
          </a:xfrm>
          <a:prstGeom prst="rect">
            <a:avLst/>
          </a:prstGeom>
        </p:spPr>
      </p:pic>
      <p:pic>
        <p:nvPicPr>
          <p:cNvPr id="3" name="Image 1" descr="/private/tmp/claude-501/-Applications-XAMPP-xamppfiles-htdocs-hackathon/dcf9ca28-56d8-4579-98cf-baafdae8adea/scratchpad/ppt/tpl/logo-2.png">    </p:cNvPr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3703320" y="2441448"/>
            <a:ext cx="4636008" cy="1188720"/>
          </a:xfrm>
          <a:prstGeom prst="rect">
            <a:avLst/>
          </a:prstGeom>
        </p:spPr>
      </p:pic>
      <p:pic>
        <p:nvPicPr>
          <p:cNvPr id="4" name="Image 2" descr="/private/tmp/claude-501/-Applications-XAMPP-xamppfiles-htdocs-hackathon/dcf9ca28-56d8-4579-98cf-baafdae8adea/scratchpad/ppt/tpl/t_iic_ie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" y="237744"/>
            <a:ext cx="2304288" cy="502920"/>
          </a:xfrm>
          <a:prstGeom prst="rect">
            <a:avLst/>
          </a:prstGeom>
        </p:spPr>
      </p:pic>
      <p:pic>
        <p:nvPicPr>
          <p:cNvPr id="5" name="Image 3" descr="/private/tmp/claude-501/-Applications-XAMPP-xamppfiles-htdocs-hackathon/dcf9ca28-56d8-4579-98cf-baafdae8adea/scratchpad/ppt/tpl/t_fus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232" y="109728"/>
            <a:ext cx="1929384" cy="667512"/>
          </a:xfrm>
          <a:prstGeom prst="rect">
            <a:avLst/>
          </a:prstGeom>
        </p:spPr>
      </p:pic>
      <p:pic>
        <p:nvPicPr>
          <p:cNvPr id="6" name="Image 4" descr="/private/tmp/claude-501/-Applications-XAMPP-xamppfiles-htdocs-hackathon/dcf9ca28-56d8-4579-98cf-baafdae8adea/scratchpad/ppt/tpl/t_ecell_sk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46888"/>
            <a:ext cx="1792224" cy="411480"/>
          </a:xfrm>
          <a:prstGeom prst="rect">
            <a:avLst/>
          </a:prstGeom>
        </p:spPr>
      </p:pic>
      <p:pic>
        <p:nvPicPr>
          <p:cNvPr id="7" name="Image 5" descr="/private/tmp/claude-501/-Applications-XAMPP-xamppfiles-htdocs-hackathon/dcf9ca28-56d8-4579-98cf-baafdae8adea/scratchpad/ppt/tpl/t_sinhg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109728"/>
            <a:ext cx="850392" cy="566928"/>
          </a:xfrm>
          <a:prstGeom prst="rect">
            <a:avLst/>
          </a:prstGeom>
        </p:spPr>
      </p:pic>
      <p:sp>
        <p:nvSpPr>
          <p:cNvPr id="8" name="Shape 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379B9A"/>
          </a:solidFill>
          <a:ln/>
        </p:spPr>
      </p:sp>
      <p:pic>
        <p:nvPicPr>
          <p:cNvPr id="9" name="Image 6" descr="/private/tmp/claude-501/-Applications-XAMPP-xamppfiles-htdocs-hackathon/dcf9ca28-56d8-4579-98cf-baafdae8adea/scratchpad/ppt/tpl/footer_wor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32" y="4901184"/>
            <a:ext cx="850392" cy="201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SION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Applications-XAMPP-xamppfiles-htdocs-hackathon/dcf9ca28-56d8-4579-98cf-baafdae8adea/scratchpad/ppt/tpl/hdr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" y="73152"/>
            <a:ext cx="1682496" cy="429768"/>
          </a:xfrm>
          <a:prstGeom prst="rect">
            <a:avLst/>
          </a:prstGeom>
        </p:spPr>
      </p:pic>
      <p:pic>
        <p:nvPicPr>
          <p:cNvPr id="3" name="Image 1" descr="/private/tmp/claude-501/-Applications-XAMPP-xamppfiles-htdocs-hackathon/dcf9ca28-56d8-4579-98cf-baafdae8adea/scratchpad/ppt/tpl/hdr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45720"/>
            <a:ext cx="1380744" cy="4937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379B9A"/>
          </a:solidFill>
          <a:ln/>
        </p:spPr>
      </p:sp>
      <p:pic>
        <p:nvPicPr>
          <p:cNvPr id="5" name="Image 2" descr="/private/tmp/claude-501/-Applications-XAMPP-xamppfiles-htdocs-hackathon/dcf9ca28-56d8-4579-98cf-baafdae8adea/scratchpad/ppt/tpl/footer_wo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4873752"/>
            <a:ext cx="850392" cy="201168"/>
          </a:xfrm>
          <a:prstGeom prst="rect">
            <a:avLst/>
          </a:prstGeom>
        </p:spPr>
      </p:pic>
      <p:sp>
        <p:nvSpPr>
          <p:cNvPr id="6" name="Text 1"/>
          <p:cNvSpPr/>
          <p:nvPr>
            <p:ph idx="104" type="title" hasCustomPrompt="1"/>
          </p:nvPr>
        </p:nvSpPr>
        <p:spPr>
          <a:xfrm>
            <a:off x="1828800" y="109728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ekilab/RoadDamageDetector" TargetMode="External"/><Relationship Id="rId2" Type="http://schemas.openxmlformats.org/officeDocument/2006/relationships/hyperlink" Target="https://github.com/commaai/comma2k19" TargetMode="External"/><Relationship Id="rId3" Type="http://schemas.openxmlformats.org/officeDocument/2006/relationships/hyperlink" Target="https://docs.ultralytics.com" TargetMode="External"/><Relationship Id="rId4" Type="http://schemas.openxmlformats.org/officeDocument/2006/relationships/hyperlink" Target="https://github.com/oracl4/RoadDamageDetection" TargetMode="External"/><Relationship Id="rId5" Type="http://schemas.openxmlformats.org/officeDocument/2006/relationships/hyperlink" Target="https://github.com/openai/CLIP" TargetMode="External"/><Relationship Id="rId6" Type="http://schemas.openxmlformats.org/officeDocument/2006/relationships/hyperlink" Target="https://github.com/ifzhang/ByteTrack" TargetMode="External"/><Relationship Id="rId7" Type="http://schemas.openxmlformats.org/officeDocument/2006/relationships/hyperlink" Target="https://datatracker.ietf.org/doc/html/rfc7946" TargetMode="External"/><Relationship Id="rId8" Type="http://schemas.openxmlformats.org/officeDocument/2006/relationships/hyperlink" Target="https://project-osrm.org" TargetMode="External"/><Relationship Id="rId9" Type="http://schemas.openxmlformats.org/officeDocument/2006/relationships/hyperlink" Target="https://github.com/aryan270506/Team-UniVerse-Geo-AI" TargetMode="External"/><Relationship Id="rId10" Type="http://schemas.openxmlformats.org/officeDocument/2006/relationships/hyperlink" Target="https://commons.wikimedia.org/wiki/File:Ladakh_Road_Trip_july_2017_-_River_crossing_-_Rohtang_Pass_Manali_India_Deadliest_Road_Drive.webm" TargetMode="External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051560"/>
            <a:ext cx="7589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○"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– 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FF6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Enter PS ID ]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○"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 – 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Road Obstruction &amp; Hazard Mapping from Street/Dashcam Video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○"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– 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UniVerse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○"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 Name – 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FF6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Enter team leader name ]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○"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Names – 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FF6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Enter member names ]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6172200" y="4160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000" dirty="0"/>
          </a:p>
        </p:txBody>
      </p:sp>
      <p:pic>
        <p:nvPicPr>
          <p:cNvPr id="4" name="Image 0" descr="/private/tmp/claude-501/-Applications-XAMPP-xamppfiles-htdocs-hackathon/dcf9ca28-56d8-4579-98cf-baafdae8adea/scratchpad/pp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4389120"/>
            <a:ext cx="219456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182880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TITLE: TerraTrace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solution: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dashcams become hazard sensors; every hazard becomes a tracked case.</a:t>
            </a:r>
            <a:endParaRPr lang="en-US" sz="1300" dirty="0"/>
          </a:p>
        </p:txBody>
      </p:sp>
      <p:pic>
        <p:nvPicPr>
          <p:cNvPr id="4" name="Image 0" descr="/private/tmp/claude-501/-Applications-XAMPP-xamppfiles-htdocs-hackathon/dcf9ca28-56d8-4579-98cf-baafdae8adea/scratchpad/ppt/india_ra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61288"/>
            <a:ext cx="2487168" cy="139903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26334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Camera sees the road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88950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Helmet/dash camera on NH3, Himachal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017520" y="1741932"/>
            <a:ext cx="237744" cy="237744"/>
          </a:xfrm>
          <a:prstGeom prst="rightArrow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8" name="Image 1" descr="/private/tmp/claude-501/-Applications-XAMPP-xamppfiles-htdocs-hackathon/dcf9ca28-56d8-4579-98cf-baafdae8adea/scratchpad/ppt/india_detec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161288"/>
            <a:ext cx="2487168" cy="139903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3328416" y="26334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AI spots the hazard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3328416" y="288950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across the road: flooding, 96%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888736" y="1741932"/>
            <a:ext cx="237744" cy="237744"/>
          </a:xfrm>
          <a:prstGeom prst="rightArrow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12" name="Image 2" descr="/private/tmp/claude-501/-Applications-XAMPP-xamppfiles-htdocs-hackathon/dcf9ca28-56d8-4579-98cf-baafdae8adea/scratchpad/ppt/home_map_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61288"/>
            <a:ext cx="2487168" cy="139903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pic>
      <p:sp>
        <p:nvSpPr>
          <p:cNvPr id="13" name="Text 8"/>
          <p:cNvSpPr txBox="1"/>
          <p:nvPr/>
        </p:nvSpPr>
        <p:spPr>
          <a:xfrm>
            <a:off x="6199632" y="26334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Mapped &amp; tracked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199632" y="288950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Route, exact pins, case for the department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6118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85216" y="3739896"/>
            <a:ext cx="402336" cy="402336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77" y="3836457"/>
            <a:ext cx="209215" cy="20921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78992" y="3703320"/>
            <a:ext cx="1938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what satellites miss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Floods, landslides, fallen trees, potholes under canopies &amp; overpasses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246120" y="36118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374136" y="3739896"/>
            <a:ext cx="402336" cy="402336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0697" y="3836457"/>
            <a:ext cx="209215" cy="20921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867912" y="3703320"/>
            <a:ext cx="1938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hazard location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geometry pins the hazard itself, not just the car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035040" y="36118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163056" y="3739896"/>
            <a:ext cx="402336" cy="402336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617" y="3836457"/>
            <a:ext cx="209215" cy="20921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656832" y="3703320"/>
            <a:ext cx="1938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→ resolution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hazard is a case: priority, department, deadline, status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182880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works, in five steps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481328" cy="2240280"/>
          </a:xfrm>
          <a:prstGeom prst="roundRect">
            <a:avLst>
              <a:gd name="adj" fmla="val 4938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71600"/>
            <a:ext cx="566928" cy="566928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463" y="15076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202996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Capture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359152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or dashcam video with GPS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" y="304495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04495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MP4 + GPX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956816" y="2226564"/>
            <a:ext cx="164592" cy="164592"/>
          </a:xfrm>
          <a:prstGeom prst="rightArrow">
            <a:avLst/>
          </a:prstGeom>
          <a:solidFill>
            <a:srgbClr val="FF6A2B"/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39696" y="1188720"/>
            <a:ext cx="1481328" cy="2240280"/>
          </a:xfrm>
          <a:prstGeom prst="roundRect">
            <a:avLst>
              <a:gd name="adj" fmla="val 4938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96896" y="1371600"/>
            <a:ext cx="566928" cy="566928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959" y="1507663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185416" y="202996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Detect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249424" y="2359152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finds potholes, cracks, floods, landslides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276856" y="304495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276856" y="304495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+ CLIP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639312" y="2226564"/>
            <a:ext cx="164592" cy="164592"/>
          </a:xfrm>
          <a:prstGeom prst="rightArrow">
            <a:avLst/>
          </a:prstGeom>
          <a:solidFill>
            <a:srgbClr val="FF6A2B"/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822192" y="1188720"/>
            <a:ext cx="1481328" cy="2240280"/>
          </a:xfrm>
          <a:prstGeom prst="roundRect">
            <a:avLst>
              <a:gd name="adj" fmla="val 4938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279392" y="1371600"/>
            <a:ext cx="566928" cy="566928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455" y="1507663"/>
            <a:ext cx="294803" cy="29480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867912" y="202996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Locate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3931920" y="2359152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angle + GPS → exact map point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3959352" y="304495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3959352" y="304495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 + GPS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321808" y="2226564"/>
            <a:ext cx="164592" cy="164592"/>
          </a:xfrm>
          <a:prstGeom prst="rightArrow">
            <a:avLst/>
          </a:prstGeom>
          <a:solidFill>
            <a:srgbClr val="FF6A2B"/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504688" y="1188720"/>
            <a:ext cx="1481328" cy="2240280"/>
          </a:xfrm>
          <a:prstGeom prst="roundRect">
            <a:avLst>
              <a:gd name="adj" fmla="val 4938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961888" y="1371600"/>
            <a:ext cx="566928" cy="566928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951" y="1507663"/>
            <a:ext cx="294803" cy="294803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550408" y="202996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Map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5614416" y="2359152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map, routes, closures &amp; detours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641848" y="304495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641848" y="304495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+ GeoJSON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7004304" y="2226564"/>
            <a:ext cx="164592" cy="164592"/>
          </a:xfrm>
          <a:prstGeom prst="rightArrow">
            <a:avLst/>
          </a:prstGeom>
          <a:solidFill>
            <a:srgbClr val="FF6A2B"/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187184" y="1188720"/>
            <a:ext cx="1481328" cy="2240280"/>
          </a:xfrm>
          <a:prstGeom prst="roundRect">
            <a:avLst>
              <a:gd name="adj" fmla="val 4938"/>
            </a:avLst>
          </a:prstGeom>
          <a:solidFill>
            <a:srgbClr val="FFF3EC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644384" y="1371600"/>
            <a:ext cx="566928" cy="566928"/>
          </a:xfrm>
          <a:prstGeom prst="ellipse">
            <a:avLst/>
          </a:prstGeom>
          <a:solidFill>
            <a:srgbClr val="FF6A2B"/>
          </a:solidFill>
          <a:ln w="12700">
            <a:solidFill>
              <a:srgbClr val="FF6A2B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0447" y="1507663"/>
            <a:ext cx="294803" cy="294803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7232904" y="202996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Act</a:t>
            </a:r>
            <a:endParaRPr lang="en-US" sz="1500" dirty="0"/>
          </a:p>
        </p:txBody>
      </p:sp>
      <p:sp>
        <p:nvSpPr>
          <p:cNvPr id="40" name="Text 33"/>
          <p:cNvSpPr txBox="1"/>
          <p:nvPr/>
        </p:nvSpPr>
        <p:spPr>
          <a:xfrm>
            <a:off x="7296912" y="2359152"/>
            <a:ext cx="1261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per hazard, routed to a department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7324344" y="304495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7324344" y="304495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workflow</a:t>
            </a:r>
            <a:endParaRPr lang="en-US" sz="950" dirty="0"/>
          </a:p>
        </p:txBody>
      </p:sp>
      <p:sp>
        <p:nvSpPr>
          <p:cNvPr id="43" name="Text 36"/>
          <p:cNvSpPr txBox="1"/>
          <p:nvPr/>
        </p:nvSpPr>
        <p:spPr>
          <a:xfrm>
            <a:off x="45720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1417320" y="3657600"/>
            <a:ext cx="619963" cy="274320"/>
          </a:xfrm>
          <a:prstGeom prst="roundRect">
            <a:avLst>
              <a:gd name="adj" fmla="val 5000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1417320" y="3657600"/>
            <a:ext cx="6199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2110435" y="3657600"/>
            <a:ext cx="619963" cy="274320"/>
          </a:xfrm>
          <a:prstGeom prst="roundRect">
            <a:avLst>
              <a:gd name="adj" fmla="val 5000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2110435" y="3657600"/>
            <a:ext cx="6199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2803550" y="3657600"/>
            <a:ext cx="923544" cy="274320"/>
          </a:xfrm>
          <a:prstGeom prst="roundRect">
            <a:avLst>
              <a:gd name="adj" fmla="val 5000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2803550" y="365760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YOLO-World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3800246" y="3657600"/>
            <a:ext cx="468173" cy="274320"/>
          </a:xfrm>
          <a:prstGeom prst="roundRect">
            <a:avLst>
              <a:gd name="adj" fmla="val 5000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3800246" y="3657600"/>
            <a:ext cx="4681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</a:t>
            </a:r>
            <a:endParaRPr lang="en-US" sz="950" dirty="0"/>
          </a:p>
        </p:txBody>
      </p:sp>
      <p:sp>
        <p:nvSpPr>
          <p:cNvPr id="52" name="Shape 45"/>
          <p:cNvSpPr/>
          <p:nvPr/>
        </p:nvSpPr>
        <p:spPr>
          <a:xfrm>
            <a:off x="4341571" y="3657600"/>
            <a:ext cx="619963" cy="274320"/>
          </a:xfrm>
          <a:prstGeom prst="roundRect">
            <a:avLst>
              <a:gd name="adj" fmla="val 5000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4341571" y="3657600"/>
            <a:ext cx="6199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</a:t>
            </a:r>
            <a:endParaRPr lang="en-US" sz="950" dirty="0"/>
          </a:p>
        </p:txBody>
      </p:sp>
      <p:sp>
        <p:nvSpPr>
          <p:cNvPr id="54" name="Shape 47"/>
          <p:cNvSpPr/>
          <p:nvPr/>
        </p:nvSpPr>
        <p:spPr>
          <a:xfrm>
            <a:off x="5034686" y="3657600"/>
            <a:ext cx="695858" cy="274320"/>
          </a:xfrm>
          <a:prstGeom prst="roundRect">
            <a:avLst>
              <a:gd name="adj" fmla="val 5000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5034686" y="3657600"/>
            <a:ext cx="695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950" dirty="0"/>
          </a:p>
        </p:txBody>
      </p:sp>
      <p:sp>
        <p:nvSpPr>
          <p:cNvPr id="56" name="Shape 49"/>
          <p:cNvSpPr/>
          <p:nvPr/>
        </p:nvSpPr>
        <p:spPr>
          <a:xfrm>
            <a:off x="5803697" y="3657600"/>
            <a:ext cx="619963" cy="274320"/>
          </a:xfrm>
          <a:prstGeom prst="roundRect">
            <a:avLst>
              <a:gd name="adj" fmla="val 5000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57" name="Text 50"/>
          <p:cNvSpPr txBox="1"/>
          <p:nvPr/>
        </p:nvSpPr>
        <p:spPr>
          <a:xfrm>
            <a:off x="5803697" y="3657600"/>
            <a:ext cx="6199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950" dirty="0"/>
          </a:p>
        </p:txBody>
      </p:sp>
      <p:sp>
        <p:nvSpPr>
          <p:cNvPr id="58" name="Shape 51"/>
          <p:cNvSpPr/>
          <p:nvPr/>
        </p:nvSpPr>
        <p:spPr>
          <a:xfrm>
            <a:off x="6496812" y="3657600"/>
            <a:ext cx="695858" cy="274320"/>
          </a:xfrm>
          <a:prstGeom prst="roundRect">
            <a:avLst>
              <a:gd name="adj" fmla="val 5000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6496812" y="3657600"/>
            <a:ext cx="695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</a:t>
            </a:r>
            <a:endParaRPr lang="en-US" sz="950" dirty="0"/>
          </a:p>
        </p:txBody>
      </p:sp>
      <p:sp>
        <p:nvSpPr>
          <p:cNvPr id="60" name="Shape 53"/>
          <p:cNvSpPr/>
          <p:nvPr/>
        </p:nvSpPr>
        <p:spPr>
          <a:xfrm>
            <a:off x="7265822" y="3657600"/>
            <a:ext cx="695858" cy="274320"/>
          </a:xfrm>
          <a:prstGeom prst="roundRect">
            <a:avLst>
              <a:gd name="adj" fmla="val 50000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61" name="Text 54"/>
          <p:cNvSpPr txBox="1"/>
          <p:nvPr/>
        </p:nvSpPr>
        <p:spPr>
          <a:xfrm>
            <a:off x="7265822" y="3657600"/>
            <a:ext cx="6958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GeoJSON</a:t>
            </a:r>
            <a:endParaRPr lang="en-US" sz="950" dirty="0"/>
          </a:p>
        </p:txBody>
      </p:sp>
      <p:sp>
        <p:nvSpPr>
          <p:cNvPr id="62" name="Shape 55"/>
          <p:cNvSpPr/>
          <p:nvPr/>
        </p:nvSpPr>
        <p:spPr>
          <a:xfrm>
            <a:off x="457200" y="4096512"/>
            <a:ext cx="329184" cy="329184"/>
          </a:xfrm>
          <a:prstGeom prst="ellipse">
            <a:avLst/>
          </a:prstGeom>
          <a:solidFill>
            <a:srgbClr val="FF6A2B"/>
          </a:solidFill>
          <a:ln w="12700">
            <a:solidFill>
              <a:srgbClr val="FF6A2B"/>
            </a:solidFill>
            <a:prstDash val="solid"/>
          </a:ln>
        </p:spPr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204" y="4175516"/>
            <a:ext cx="171176" cy="171176"/>
          </a:xfrm>
          <a:prstGeom prst="rect">
            <a:avLst/>
          </a:prstGeom>
        </p:spPr>
      </p:pic>
      <p:sp>
        <p:nvSpPr>
          <p:cNvPr id="64" name="Text 56"/>
          <p:cNvSpPr txBox="1"/>
          <p:nvPr/>
        </p:nvSpPr>
        <p:spPr>
          <a:xfrm>
            <a:off x="896112" y="407822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a laptop GPU (Apple M5): no cloud needed.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in: upload a drive, replay it live, or stream a phone camera.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182880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 — WORKING PROTOTYPE</a:t>
            </a:r>
            <a:endParaRPr lang="en-US" sz="2200" dirty="0"/>
          </a:p>
        </p:txBody>
      </p:sp>
      <p:pic>
        <p:nvPicPr>
          <p:cNvPr id="3" name="Image 0" descr="/private/tmp/claude-501/-Applications-XAMPP-xamppfiles-htdocs-hackathon/dcf9ca28-56d8-4579-98cf-baafdae8adea/scratchpad/ppt/shots/hom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49808"/>
            <a:ext cx="5257800" cy="328612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4090797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TerraTrace Home: an animated tour draws every analysed route from start to end and drops hazard pins as it passes them.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943600" y="74980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53328" y="786384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fps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7022592" y="786384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speed on a laptop GPU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943600" y="1426464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53328" y="1463040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7022592" y="146304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than real time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0" y="210312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53328" y="2139696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7022592" y="2139696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inputs: upload · live replay · phone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43600" y="2779776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53328" y="2816352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6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16/16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7022592" y="281635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checks on 3 real clips</a:t>
            </a:r>
            <a:endParaRPr lang="en-US" sz="1050" dirty="0"/>
          </a:p>
        </p:txBody>
      </p:sp>
      <p:pic>
        <p:nvPicPr>
          <p:cNvPr id="17" name="Image 1" descr="/private/tmp/claude-501/-Applications-XAMPP-xamppfiles-htdocs-hackathon/dcf9ca28-56d8-4579-98cf-baafdae8adea/scratchpad/ppt/pothole_cro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520440"/>
            <a:ext cx="2743200" cy="9144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943600" y="4462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photo saved with every hazard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182880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 — PLATFORM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detection to resolution: one platform for the control room</a:t>
            </a:r>
            <a:endParaRPr lang="en-US" sz="1500" dirty="0"/>
          </a:p>
        </p:txBody>
      </p:sp>
      <p:pic>
        <p:nvPicPr>
          <p:cNvPr id="4" name="Image 0" descr="/private/tmp/claude-501/-Applications-XAMPP-xamppfiles-htdocs-hackathon/dcf9ca28-56d8-4579-98cf-baafdae8adea/scratchpad/ppt/shots/cases_20261009-145456-drive_H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15568"/>
            <a:ext cx="2651760" cy="16573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288264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tracking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17525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→ target fix, priority, department, evidence, notes</a:t>
            </a:r>
            <a:endParaRPr lang="en-US" sz="1100" dirty="0"/>
          </a:p>
        </p:txBody>
      </p:sp>
      <p:pic>
        <p:nvPicPr>
          <p:cNvPr id="7" name="Image 1" descr="/private/tmp/claude-501/-Applications-XAMPP-xamppfiles-htdocs-hackathon/dcf9ca28-56d8-4579-98cf-baafdae8adea/scratchpad/ppt/shots/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115568"/>
            <a:ext cx="2651760" cy="16573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3246120" y="288264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board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246120" y="317525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→ Verified → Assigned → In progress → Resolved</a:t>
            </a:r>
            <a:endParaRPr lang="en-US" sz="1100" dirty="0"/>
          </a:p>
        </p:txBody>
      </p:sp>
      <p:pic>
        <p:nvPicPr>
          <p:cNvPr id="10" name="Image 2" descr="/private/tmp/claude-501/-Applications-XAMPP-xamppfiles-htdocs-hackathon/dcf9ca28-56d8-4579-98cf-baafdae8adea/scratchpad/ppt/shots/command_india-rohtang-nh3_t=2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15568"/>
            <a:ext cx="2651760" cy="165735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pic>
      <p:sp>
        <p:nvSpPr>
          <p:cNvPr id="11" name="Text 6"/>
          <p:cNvSpPr txBox="1"/>
          <p:nvPr/>
        </p:nvSpPr>
        <p:spPr>
          <a:xfrm>
            <a:off x="6035040" y="288264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6035040" y="317525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AI-view video synced with the map; live alerts &amp; detours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57200" y="395020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3EC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66928" y="4032504"/>
            <a:ext cx="384048" cy="384048"/>
          </a:xfrm>
          <a:prstGeom prst="ellipse">
            <a:avLst/>
          </a:prstGeom>
          <a:solidFill>
            <a:srgbClr val="FF6A2B"/>
          </a:solidFill>
          <a:ln w="12700">
            <a:solidFill>
              <a:srgbClr val="FF6A2B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00" y="4124676"/>
            <a:ext cx="199705" cy="199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78992" y="398678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Also: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incident report (PDF) for authorities · road health grade per drive · GeoJSON / CSV export for any GIS · phone-as-dashcam live mode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182880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161288"/>
            <a:ext cx="365760" cy="36576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710" y="1249070"/>
            <a:ext cx="190195" cy="1901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1115568"/>
            <a:ext cx="2011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working end-to-end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Upload, live replay &amp; phone streaming → mapped cases with a full workflow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46120" y="10515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55848" y="1161288"/>
            <a:ext cx="365760" cy="36576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630" y="1249070"/>
            <a:ext cx="190195" cy="1901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813048" y="1115568"/>
            <a:ext cx="2011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special hardware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a laptop GPU; any phone or dashcam is the sensor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35040" y="10515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44768" y="1161288"/>
            <a:ext cx="365760" cy="36576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0" y="1249070"/>
            <a:ext cx="190195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01968" y="1115568"/>
            <a:ext cx="2011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data &amp; models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on RDD2022 (47k+ images); open-source stack, no licence cost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21579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risks  →  our strategies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50592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577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Challenge / risk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9B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9B9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misses or invents hazards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Whole-road CLIP scene check finds floods &amp; landslides; dry roads and hillsides are filtered out; fine-tune next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Intermittent / noisy GPS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interpolation + heading smoothing; GPS-gap flag on every hazard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 camera mounting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 presets (phone / dashcam / helmet) + automatic tilt from the horizon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hazard seen many times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 tracking + spatial clustering → one case per real hazard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Phone can't reach the laptop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HTTPS server; phone hotspot fallback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182880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868680"/>
            <a:ext cx="420624" cy="420624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10" y="969630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corporations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66420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Pothole &amp; road-damage inventory from buses, garbage trucks, taxis; repairs prioritised and tracked to closure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46120" y="749808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83280" y="868680"/>
            <a:ext cx="420624" cy="420624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230" y="969630"/>
            <a:ext cx="218724" cy="2187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83280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response teams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166420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hours of a storm or landslide: which roads are blocked or flooded, and the detour around them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35040" y="749808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1FAFA"/>
          </a:solidFill>
          <a:ln w="9525">
            <a:solidFill>
              <a:srgbClr val="D7EC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72200" y="868680"/>
            <a:ext cx="420624" cy="420624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150" y="969630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172200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&amp; commuters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172200" y="166420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routing, fewer accidents and vehicle damage; transparent public hazard map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2560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57200" y="2962656"/>
            <a:ext cx="146304" cy="146304"/>
          </a:xfrm>
          <a:prstGeom prst="ellipse">
            <a:avLst/>
          </a:prstGeom>
          <a:solidFill>
            <a:srgbClr val="FF6A2B"/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31520" y="28803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cost —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reuses phones &amp; dashcams already on the road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3346704"/>
            <a:ext cx="146304" cy="146304"/>
          </a:xfrm>
          <a:prstGeom prst="ellipse">
            <a:avLst/>
          </a:prstGeom>
          <a:solidFill>
            <a:srgbClr val="FF6A2B"/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32644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—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map in minutes, not days of surveys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3730752"/>
            <a:ext cx="146304" cy="146304"/>
          </a:xfrm>
          <a:prstGeom prst="ellipse">
            <a:avLst/>
          </a:prstGeom>
          <a:solidFill>
            <a:srgbClr val="FF6A2B"/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520" y="36484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Accountable —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hazard has an owner, a deadline and a status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57200" y="4114800"/>
            <a:ext cx="146304" cy="146304"/>
          </a:xfrm>
          <a:prstGeom prst="ellipse">
            <a:avLst/>
          </a:prstGeom>
          <a:solidFill>
            <a:srgbClr val="FF6A2B"/>
          </a:solidFill>
          <a:ln w="12700">
            <a:solidFill>
              <a:srgbClr val="FF6A2B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31520" y="403250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Interoperable —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GeoJSON for any GIS or city dashboard</a:t>
            </a:r>
            <a:endParaRPr lang="en-US" sz="1200" dirty="0"/>
          </a:p>
        </p:txBody>
      </p:sp>
      <p:pic>
        <p:nvPicPr>
          <p:cNvPr id="27" name="Image 3" descr="/private/tmp/claude-501/-Applications-XAMPP-xamppfiles-htdocs-hackathon/dcf9ca28-56d8-4579-98cf-baafdae8adea/scratchpad/ppt/india_detect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578608"/>
            <a:ext cx="2926080" cy="16459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pic>
      <p:sp>
        <p:nvSpPr>
          <p:cNvPr id="28" name="Text 22"/>
          <p:cNvSpPr txBox="1"/>
          <p:nvPr/>
        </p:nvSpPr>
        <p:spPr>
          <a:xfrm>
            <a:off x="5760720" y="4270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on an Indian highway (NH3, Rohtang): flooding detected, road closed, detour found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182880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" cy="27432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777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749808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RDD2022 road damage dataset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Arya et al., arXiv:2209.08538 · github.com/sekilab/RoadDamageDetector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435608"/>
            <a:ext cx="274320" cy="27432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1408176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comma2k19 driving dataset (video + GNSS)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github.com/commaai/comma2k19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93976"/>
            <a:ext cx="274320" cy="27432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093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066544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/ YOLO-World (Ultralytics)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docs.ultralytics.com · Cheng et al., CVPR 2024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52344"/>
            <a:ext cx="274320" cy="27432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52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724912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RDD-trained YOLOv8s weights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github.com/oracl4/RoadDamageDetection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410712"/>
            <a:ext cx="274320" cy="27432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10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3383280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CLIP: zero-shot image–text matching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Radford et al., ICML 2021 · github.com/openai/CLIP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274320" cy="27432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4041648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ByteTrack multi-object tracking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Zhang et al., ECCV 2022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777240"/>
            <a:ext cx="274320" cy="27432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777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47488" y="749808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 density clustering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Ester et al., KDD 1996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1435608"/>
            <a:ext cx="274320" cy="27432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63440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047488" y="1408176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GeoJSON · Leaflet · OpenStreetMap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IETF RFC 7946 · leafletjs.com · openstreetmap.org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2093976"/>
            <a:ext cx="274320" cy="27432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63440" y="2093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047488" y="2066544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OSRM routing · Nominatim geocoding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project-osrm.org · nominatim.org (detours, place names)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2752344"/>
            <a:ext cx="274320" cy="27432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63440" y="2752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047488" y="2724912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TerraTrace source code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github.com/aryan270506/Team-UniVerse-Geo-AI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410712"/>
            <a:ext cx="274320" cy="274320"/>
          </a:xfrm>
          <a:prstGeom prst="ellipse">
            <a:avLst/>
          </a:prstGeom>
          <a:solidFill>
            <a:srgbClr val="379B9A"/>
          </a:solidFill>
          <a:ln w="12700">
            <a:solidFill>
              <a:srgbClr val="379B9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63440" y="3410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047488" y="3383280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road footage (NH3 demo)</a:t>
            </a:r>
            <a:endParaRPr lang="en-US" sz="1050" dirty="0"/>
          </a:p>
          <a:p>
            <a:pPr indent="0" marL="0">
              <a:buNone/>
            </a:pPr>
            <a:r>
              <a:rPr lang="en-US" sz="1050" u="sng" dirty="0">
                <a:solidFill>
                  <a:srgbClr val="379B9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KSOFTECH, CC BY 3.0, via Wikimedia Commons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486460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TerraTrace — Fusion 2026 Round 1</dc:title>
  <dc:subject>PptxGenJS Presentation</dc:subject>
  <dc:creator>Team UniVerse</dc:creator>
  <cp:lastModifiedBy>Team UniVerse</cp:lastModifiedBy>
  <cp:revision>1</cp:revision>
  <dcterms:created xsi:type="dcterms:W3CDTF">2026-10-09T14:44:50Z</dcterms:created>
  <dcterms:modified xsi:type="dcterms:W3CDTF">2026-10-09T14:44:50Z</dcterms:modified>
</cp:coreProperties>
</file>