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notesMasterIdLst>
    <p:notesMasterId r:id="rId9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02-1.png"/><Relationship Id="rId2" Type="http://schemas.openxmlformats.org/officeDocument/2006/relationships/image" Target="../media/image-1002-2.png"/><Relationship Id="rId3" Type="http://schemas.openxmlformats.org/officeDocument/2006/relationships/image" Target="../media/image-1002-3.png"/><Relationship Id="rId4" Type="http://schemas.openxmlformats.org/officeDocument/2006/relationships/image" Target="../media/image-1002-4.png"/><Relationship Id="rId5" Type="http://schemas.openxmlformats.org/officeDocument/2006/relationships/image" Target="../media/image-1002-5.png"/><Relationship Id="rId6" Type="http://schemas.openxmlformats.org/officeDocument/2006/relationships/image" Target="../media/image-1002-6.png"/><Relationship Id="rId7" Type="http://schemas.openxmlformats.org/officeDocument/2006/relationships/image" Target="../media/image-1002-7.png"/><Relationship Id="rId8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03-1.png"/><Relationship Id="rId2" Type="http://schemas.openxmlformats.org/officeDocument/2006/relationships/image" Target="../media/image-1003-2.png"/><Relationship Id="rId3" Type="http://schemas.openxmlformats.org/officeDocument/2006/relationships/image" Target="../media/image-1003-3.png"/><Relationship Id="rId4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FUSION_TITLE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private/tmp/claude-501/-Applications-XAMPP-xamppfiles-htdocs-hackathon/dcf9ca28-56d8-4579-98cf-baafdae8adea/scratchpad/ppt/tpl/logo-0.png">    </p:cNvPr>
          <p:cNvPicPr>
            <a:picLocks noChangeAspect="1"/>
          </p:cNvPicPr>
          <p:nvPr/>
        </p:nvPicPr>
        <p:blipFill>
          <a:blip r:embed="rId1">
            <a:alphaModFix amt="22000"/>
          </a:blip>
          <a:stretch>
            <a:fillRect/>
          </a:stretch>
        </p:blipFill>
        <p:spPr>
          <a:xfrm>
            <a:off x="813816" y="1353312"/>
            <a:ext cx="6830568" cy="2578608"/>
          </a:xfrm>
          <a:prstGeom prst="rect">
            <a:avLst/>
          </a:prstGeom>
        </p:spPr>
      </p:pic>
      <p:pic>
        <p:nvPicPr>
          <p:cNvPr id="3" name="Image 1" descr="/private/tmp/claude-501/-Applications-XAMPP-xamppfiles-htdocs-hackathon/dcf9ca28-56d8-4579-98cf-baafdae8adea/scratchpad/ppt/tpl/logo-2.png">    </p:cNvPr>
          <p:cNvPicPr>
            <a:picLocks noChangeAspect="1"/>
          </p:cNvPicPr>
          <p:nvPr/>
        </p:nvPicPr>
        <p:blipFill>
          <a:blip r:embed="rId2">
            <a:alphaModFix amt="22000"/>
          </a:blip>
          <a:stretch>
            <a:fillRect/>
          </a:stretch>
        </p:blipFill>
        <p:spPr>
          <a:xfrm>
            <a:off x="3703320" y="2441448"/>
            <a:ext cx="4636008" cy="1188720"/>
          </a:xfrm>
          <a:prstGeom prst="rect">
            <a:avLst/>
          </a:prstGeom>
        </p:spPr>
      </p:pic>
      <p:pic>
        <p:nvPicPr>
          <p:cNvPr id="4" name="Image 2" descr="/private/tmp/claude-501/-Applications-XAMPP-xamppfiles-htdocs-hackathon/dcf9ca28-56d8-4579-98cf-baafdae8adea/scratchpad/ppt/tpl/t_iic_ieee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3736" y="237744"/>
            <a:ext cx="2304288" cy="502920"/>
          </a:xfrm>
          <a:prstGeom prst="rect">
            <a:avLst/>
          </a:prstGeom>
        </p:spPr>
      </p:pic>
      <p:pic>
        <p:nvPicPr>
          <p:cNvPr id="5" name="Image 3" descr="/private/tmp/claude-501/-Applications-XAMPP-xamppfiles-htdocs-hackathon/dcf9ca28-56d8-4579-98cf-baafdae8adea/scratchpad/ppt/tpl/t_fusion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999232" y="109728"/>
            <a:ext cx="1929384" cy="667512"/>
          </a:xfrm>
          <a:prstGeom prst="rect">
            <a:avLst/>
          </a:prstGeom>
        </p:spPr>
      </p:pic>
      <p:pic>
        <p:nvPicPr>
          <p:cNvPr id="6" name="Image 4" descr="/private/tmp/claude-501/-Applications-XAMPP-xamppfiles-htdocs-hackathon/dcf9ca28-56d8-4579-98cf-baafdae8adea/scratchpad/ppt/tpl/t_ecell_skn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715000" y="246888"/>
            <a:ext cx="1792224" cy="411480"/>
          </a:xfrm>
          <a:prstGeom prst="rect">
            <a:avLst/>
          </a:prstGeom>
        </p:spPr>
      </p:pic>
      <p:pic>
        <p:nvPicPr>
          <p:cNvPr id="7" name="Image 5" descr="/private/tmp/claude-501/-Applications-XAMPP-xamppfiles-htdocs-hackathon/dcf9ca28-56d8-4579-98cf-baafdae8adea/scratchpad/ppt/tpl/t_sinhga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165592" y="109728"/>
            <a:ext cx="850392" cy="566928"/>
          </a:xfrm>
          <a:prstGeom prst="rect">
            <a:avLst/>
          </a:prstGeom>
        </p:spPr>
      </p:pic>
      <p:sp>
        <p:nvSpPr>
          <p:cNvPr id="8" name="Shape 0"/>
          <p:cNvSpPr/>
          <p:nvPr/>
        </p:nvSpPr>
        <p:spPr>
          <a:xfrm>
            <a:off x="0" y="4873752"/>
            <a:ext cx="9144000" cy="274320"/>
          </a:xfrm>
          <a:prstGeom prst="rect">
            <a:avLst/>
          </a:prstGeom>
          <a:solidFill>
            <a:srgbClr val="379B9A"/>
          </a:solidFill>
          <a:ln/>
        </p:spPr>
      </p:sp>
      <p:pic>
        <p:nvPicPr>
          <p:cNvPr id="9" name="Image 6" descr="/private/tmp/claude-501/-Applications-XAMPP-xamppfiles-htdocs-hackathon/dcf9ca28-56d8-4579-98cf-baafdae8adea/scratchpad/ppt/tpl/footer_wor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142232" y="4901184"/>
            <a:ext cx="850392" cy="201168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FUSION_CONTEN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private/tmp/claude-501/-Applications-XAMPP-xamppfiles-htdocs-hackathon/dcf9ca28-56d8-4579-98cf-baafdae8adea/scratchpad/ppt/tpl/hdr_lef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" y="73152"/>
            <a:ext cx="1682496" cy="429768"/>
          </a:xfrm>
          <a:prstGeom prst="rect">
            <a:avLst/>
          </a:prstGeom>
        </p:spPr>
      </p:pic>
      <p:pic>
        <p:nvPicPr>
          <p:cNvPr id="3" name="Image 1" descr="/private/tmp/claude-501/-Applications-XAMPP-xamppfiles-htdocs-hackathon/dcf9ca28-56d8-4579-98cf-baafdae8adea/scratchpad/ppt/tpl/hdr_right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26680" y="45720"/>
            <a:ext cx="1380744" cy="493776"/>
          </a:xfrm>
          <a:prstGeom prst="rect">
            <a:avLst/>
          </a:prstGeom>
        </p:spPr>
      </p:pic>
      <p:sp>
        <p:nvSpPr>
          <p:cNvPr id="4" name="Shape 0"/>
          <p:cNvSpPr/>
          <p:nvPr/>
        </p:nvSpPr>
        <p:spPr>
          <a:xfrm>
            <a:off x="0" y="4818888"/>
            <a:ext cx="9144000" cy="329184"/>
          </a:xfrm>
          <a:prstGeom prst="rect">
            <a:avLst/>
          </a:prstGeom>
          <a:solidFill>
            <a:srgbClr val="379B9A"/>
          </a:solidFill>
          <a:ln/>
        </p:spPr>
      </p:sp>
      <p:pic>
        <p:nvPicPr>
          <p:cNvPr id="5" name="Image 2" descr="/private/tmp/claude-501/-Applications-XAMPP-xamppfiles-htdocs-hackathon/dcf9ca28-56d8-4579-98cf-baafdae8adea/scratchpad/ppt/tpl/footer_wor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42232" y="4873752"/>
            <a:ext cx="850392" cy="201168"/>
          </a:xfrm>
          <a:prstGeom prst="rect">
            <a:avLst/>
          </a:prstGeom>
        </p:spPr>
      </p:pic>
      <p:sp>
        <p:nvSpPr>
          <p:cNvPr id="6" name="Text 1"/>
          <p:cNvSpPr/>
          <p:nvPr>
            <p:ph idx="104" type="title" hasCustomPrompt="1"/>
          </p:nvPr>
        </p:nvSpPr>
        <p:spPr>
          <a:xfrm>
            <a:off x="1828800" y="109728"/>
            <a:ext cx="5486400" cy="45720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ctr" indent="0" marL="0">
              <a:buNone/>
              <a:defRPr lang="en-US" sz="220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defRPr>
            </a:lvl1pPr>
          </a:lstStyle>
          <a:p>
            <a:pPr algn="ctr" indent="0" marL="0">
              <a:buNone/>
            </a:pPr>
            <a:endParaRPr lang="en-US" sz="2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549640" y="4864608"/>
            <a:ext cx="457200" cy="237744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549640" y="4864608"/>
            <a:ext cx="457200" cy="237744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jpg"/><Relationship Id="rId2" Type="http://schemas.openxmlformats.org/officeDocument/2006/relationships/image" Target="../media/image-2-2.jp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image" Target="../media/image-2-5.png"/><Relationship Id="rId6" Type="http://schemas.openxmlformats.org/officeDocument/2006/relationships/image" Target="../media/image-2-6.png"/><Relationship Id="rId7" Type="http://schemas.openxmlformats.org/officeDocument/2006/relationships/slideLayout" Target="../slideLayouts/slideLayout3.xml"/><Relationship Id="rId8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image" Target="../media/image-3-5.png"/><Relationship Id="rId6" Type="http://schemas.openxmlformats.org/officeDocument/2006/relationships/slideLayout" Target="../slideLayouts/slideLayout3.xml"/><Relationship Id="rId7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jp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slideLayout" Target="../slideLayouts/slideLayout3.xml"/><Relationship Id="rId5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image" Target="../media/image-6-4.jpg"/><Relationship Id="rId5" Type="http://schemas.openxmlformats.org/officeDocument/2006/relationships/slideLayout" Target="../slideLayouts/slideLayout3.xml"/><Relationship Id="rId6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hyperlink" Target="https://github.com/sekilab/RoadDamageDetector" TargetMode="External"/><Relationship Id="rId2" Type="http://schemas.openxmlformats.org/officeDocument/2006/relationships/hyperlink" Target="https://github.com/commaai/comma2k19" TargetMode="External"/><Relationship Id="rId3" Type="http://schemas.openxmlformats.org/officeDocument/2006/relationships/hyperlink" Target="https://docs.ultralytics.com" TargetMode="External"/><Relationship Id="rId4" Type="http://schemas.openxmlformats.org/officeDocument/2006/relationships/hyperlink" Target="https://github.com/oracl4/RoadDamageDetection" TargetMode="External"/><Relationship Id="rId5" Type="http://schemas.openxmlformats.org/officeDocument/2006/relationships/hyperlink" Target="https://github.com/openai/CLIP" TargetMode="External"/><Relationship Id="rId6" Type="http://schemas.openxmlformats.org/officeDocument/2006/relationships/hyperlink" Target="https://github.com/ifzhang/ByteTrack" TargetMode="External"/><Relationship Id="rId7" Type="http://schemas.openxmlformats.org/officeDocument/2006/relationships/hyperlink" Target="https://datatracker.ietf.org/doc/html/rfc7946" TargetMode="External"/><Relationship Id="rId8" Type="http://schemas.openxmlformats.org/officeDocument/2006/relationships/hyperlink" Target="https://github.com/aryan270506/Team-UniVerse-Geo-AI" TargetMode="External"/><Relationship Id="rId9" Type="http://schemas.openxmlformats.org/officeDocument/2006/relationships/hyperlink" Target="https://commons.wikimedia.org/wiki/File:Ladakh_Road_Trip_july_2017_-_River_crossing_-_Rohtang_Pass_Manali_India_Deadliest_Road_Drive.webm" TargetMode="External"/><Relationship Id="rId10" Type="http://schemas.openxmlformats.org/officeDocument/2006/relationships/slideLayout" Target="../slideLayouts/slideLayout3.xml"/><Relationship Id="rId11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68680" y="1234440"/>
            <a:ext cx="7589520" cy="3429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1400"/>
              </a:spcAft>
              <a:buSzPct val="100000"/>
              <a:buChar char="○"/>
            </a:pPr>
            <a:r>
              <a:rPr lang="en-US" sz="200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Problem Statement ID – </a:t>
            </a:r>
            <a:pPr indent="0" marL="0">
              <a:spcAft>
                <a:spcPts val="1400"/>
              </a:spcAft>
              <a:buNone/>
            </a:pPr>
            <a:r>
              <a:rPr lang="en-US" sz="2000" dirty="0">
                <a:solidFill>
                  <a:srgbClr val="F47B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 Enter PS ID ]</a:t>
            </a:r>
            <a:endParaRPr lang="en-US" sz="2000" dirty="0"/>
          </a:p>
          <a:p>
            <a:pPr marL="342900" indent="-342900">
              <a:spcAft>
                <a:spcPts val="1400"/>
              </a:spcAft>
              <a:buSzPct val="100000"/>
              <a:buChar char="○"/>
            </a:pPr>
            <a:r>
              <a:rPr lang="en-US" sz="200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Problem Statement Title – </a:t>
            </a:r>
            <a:pPr indent="0" marL="0">
              <a:spcAft>
                <a:spcPts val="1400"/>
              </a:spcAft>
              <a:buNone/>
            </a:pPr>
            <a:r>
              <a:rPr lang="en-US" sz="2000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Automated Road Obstruction &amp; Hazard Mapping from Street/Dashcam Video</a:t>
            </a:r>
            <a:endParaRPr lang="en-US" sz="2000" dirty="0"/>
          </a:p>
          <a:p>
            <a:pPr marL="342900" indent="-342900">
              <a:spcAft>
                <a:spcPts val="1400"/>
              </a:spcAft>
              <a:buSzPct val="100000"/>
              <a:buChar char="○"/>
            </a:pPr>
            <a:r>
              <a:rPr lang="en-US" sz="200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Team Name – </a:t>
            </a:r>
            <a:pPr indent="0" marL="0">
              <a:spcAft>
                <a:spcPts val="1400"/>
              </a:spcAft>
              <a:buNone/>
            </a:pPr>
            <a:r>
              <a:rPr lang="en-US" sz="2000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Team UniVerse</a:t>
            </a:r>
            <a:endParaRPr lang="en-US" sz="2000" dirty="0"/>
          </a:p>
          <a:p>
            <a:pPr marL="342900" indent="-342900">
              <a:spcAft>
                <a:spcPts val="1400"/>
              </a:spcAft>
              <a:buSzPct val="100000"/>
              <a:buChar char="○"/>
            </a:pPr>
            <a:r>
              <a:rPr lang="en-US" sz="200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Team Leader Name – </a:t>
            </a:r>
            <a:pPr indent="0" marL="0">
              <a:spcAft>
                <a:spcPts val="1400"/>
              </a:spcAft>
              <a:buNone/>
            </a:pPr>
            <a:r>
              <a:rPr lang="en-US" sz="2000" dirty="0">
                <a:solidFill>
                  <a:srgbClr val="F47B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 Enter team leader name ]</a:t>
            </a:r>
            <a:endParaRPr lang="en-US" sz="2000" dirty="0"/>
          </a:p>
          <a:p>
            <a:pPr marL="342900" indent="-342900">
              <a:spcAft>
                <a:spcPts val="1400"/>
              </a:spcAft>
              <a:buSzPct val="100000"/>
              <a:buChar char="○"/>
            </a:pPr>
            <a:r>
              <a:rPr lang="en-US" sz="200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Members Names – </a:t>
            </a:r>
            <a:pPr indent="0" marL="0">
              <a:spcAft>
                <a:spcPts val="1400"/>
              </a:spcAft>
              <a:buNone/>
            </a:pPr>
            <a:r>
              <a:rPr lang="en-US" sz="2000" dirty="0">
                <a:solidFill>
                  <a:srgbClr val="F47B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 Enter member names ]</a:t>
            </a:r>
            <a:endParaRPr lang="en-US" sz="2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4" type="title" hasCustomPrompt="1"/>
          </p:nvPr>
        </p:nvSpPr>
        <p:spPr>
          <a:xfrm>
            <a:off x="1828800" y="109728"/>
            <a:ext cx="5486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IDEA TITLE: HazardMap</a:t>
            </a:r>
            <a:endParaRPr lang="en-US" sz="22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731520"/>
            <a:ext cx="8229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Proposed solution: </a:t>
            </a:r>
            <a:pPr indent="0" marL="0">
              <a:buNone/>
            </a:pPr>
            <a:r>
              <a:rPr lang="en-US" sz="1500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any phone or dashcam becomes a road-hazard sensor.</a:t>
            </a:r>
            <a:endParaRPr lang="en-US" sz="1500" dirty="0"/>
          </a:p>
        </p:txBody>
      </p:sp>
      <p:pic>
        <p:nvPicPr>
          <p:cNvPr id="4" name="Image 0" descr="/private/tmp/claude-501/-Applications-XAMPP-xamppfiles-htdocs-hackathon/dcf9ca28-56d8-4579-98cf-baafdae8adea/scratchpad/ppt/india_raw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188720"/>
            <a:ext cx="2487168" cy="1399032"/>
          </a:xfrm>
          <a:prstGeom prst="rect">
            <a:avLst/>
          </a:prstGeom>
          <a:effectLst>
            <a:outerShdw sx="100000" sy="100000" kx="0" ky="0" algn="bl" rotWithShape="0" blurRad="63500" dist="25400" dir="5400000">
              <a:srgbClr val="000000">
                <a:alpha val="22000"/>
              </a:srgbClr>
            </a:outerShdw>
          </a:effectLst>
        </p:spPr>
      </p:pic>
      <p:sp>
        <p:nvSpPr>
          <p:cNvPr id="5" name="Text 2"/>
          <p:cNvSpPr txBox="1"/>
          <p:nvPr/>
        </p:nvSpPr>
        <p:spPr>
          <a:xfrm>
            <a:off x="457200" y="2660904"/>
            <a:ext cx="24871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  Camera sees the road</a:t>
            </a:r>
            <a:endParaRPr lang="en-US" sz="1300" dirty="0"/>
          </a:p>
        </p:txBody>
      </p:sp>
      <p:sp>
        <p:nvSpPr>
          <p:cNvPr id="6" name="Text 3"/>
          <p:cNvSpPr txBox="1"/>
          <p:nvPr/>
        </p:nvSpPr>
        <p:spPr>
          <a:xfrm>
            <a:off x="457200" y="2916936"/>
            <a:ext cx="248716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Helmet/dash camera on NH3, Himachal</a:t>
            </a:r>
            <a:endParaRPr lang="en-US" sz="1100" dirty="0"/>
          </a:p>
        </p:txBody>
      </p:sp>
      <p:sp>
        <p:nvSpPr>
          <p:cNvPr id="7" name="Shape 4"/>
          <p:cNvSpPr/>
          <p:nvPr/>
        </p:nvSpPr>
        <p:spPr>
          <a:xfrm>
            <a:off x="3017520" y="1769364"/>
            <a:ext cx="237744" cy="237744"/>
          </a:xfrm>
          <a:prstGeom prst="rightArrow">
            <a:avLst/>
          </a:prstGeom>
          <a:solidFill>
            <a:srgbClr val="379B9A"/>
          </a:solidFill>
          <a:ln w="12700">
            <a:solidFill>
              <a:srgbClr val="379B9A"/>
            </a:solidFill>
            <a:prstDash val="solid"/>
          </a:ln>
        </p:spPr>
      </p:sp>
      <p:pic>
        <p:nvPicPr>
          <p:cNvPr id="8" name="Image 1" descr="/private/tmp/claude-501/-Applications-XAMPP-xamppfiles-htdocs-hackathon/dcf9ca28-56d8-4579-98cf-baafdae8adea/scratchpad/ppt/india_detect.jp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28416" y="1188720"/>
            <a:ext cx="2487168" cy="1399032"/>
          </a:xfrm>
          <a:prstGeom prst="rect">
            <a:avLst/>
          </a:prstGeom>
          <a:effectLst>
            <a:outerShdw sx="100000" sy="100000" kx="0" ky="0" algn="bl" rotWithShape="0" blurRad="63500" dist="25400" dir="5400000">
              <a:srgbClr val="000000">
                <a:alpha val="22000"/>
              </a:srgbClr>
            </a:outerShdw>
          </a:effectLst>
        </p:spPr>
      </p:pic>
      <p:sp>
        <p:nvSpPr>
          <p:cNvPr id="9" name="Text 5"/>
          <p:cNvSpPr txBox="1"/>
          <p:nvPr/>
        </p:nvSpPr>
        <p:spPr>
          <a:xfrm>
            <a:off x="3328416" y="2660904"/>
            <a:ext cx="24871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  AI spots the hazard</a:t>
            </a:r>
            <a:endParaRPr lang="en-US" sz="1300" dirty="0"/>
          </a:p>
        </p:txBody>
      </p:sp>
      <p:sp>
        <p:nvSpPr>
          <p:cNvPr id="10" name="Text 6"/>
          <p:cNvSpPr txBox="1"/>
          <p:nvPr/>
        </p:nvSpPr>
        <p:spPr>
          <a:xfrm>
            <a:off x="3328416" y="2916936"/>
            <a:ext cx="248716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Water flowing across road: flooding</a:t>
            </a:r>
            <a:endParaRPr lang="en-US" sz="1100" dirty="0"/>
          </a:p>
        </p:txBody>
      </p:sp>
      <p:sp>
        <p:nvSpPr>
          <p:cNvPr id="11" name="Shape 7"/>
          <p:cNvSpPr/>
          <p:nvPr/>
        </p:nvSpPr>
        <p:spPr>
          <a:xfrm>
            <a:off x="5888736" y="1769364"/>
            <a:ext cx="237744" cy="237744"/>
          </a:xfrm>
          <a:prstGeom prst="rightArrow">
            <a:avLst/>
          </a:prstGeom>
          <a:solidFill>
            <a:srgbClr val="379B9A"/>
          </a:solidFill>
          <a:ln w="12700">
            <a:solidFill>
              <a:srgbClr val="379B9A"/>
            </a:solidFill>
            <a:prstDash val="solid"/>
          </a:ln>
        </p:spPr>
      </p:sp>
      <p:pic>
        <p:nvPicPr>
          <p:cNvPr id="12" name="Image 2" descr="/private/tmp/claude-501/-Applications-XAMPP-xamppfiles-htdocs-hackathon/dcf9ca28-56d8-4579-98cf-baafdae8adea/scratchpad/ppt/india_map_crop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99632" y="1188720"/>
            <a:ext cx="2487168" cy="1399032"/>
          </a:xfrm>
          <a:prstGeom prst="rect">
            <a:avLst/>
          </a:prstGeom>
          <a:effectLst>
            <a:outerShdw sx="100000" sy="100000" kx="0" ky="0" algn="bl" rotWithShape="0" blurRad="63500" dist="25400" dir="5400000">
              <a:srgbClr val="000000">
                <a:alpha val="22000"/>
              </a:srgbClr>
            </a:outerShdw>
          </a:effectLst>
        </p:spPr>
      </p:pic>
      <p:sp>
        <p:nvSpPr>
          <p:cNvPr id="13" name="Text 8"/>
          <p:cNvSpPr txBox="1"/>
          <p:nvPr/>
        </p:nvSpPr>
        <p:spPr>
          <a:xfrm>
            <a:off x="6199632" y="2660904"/>
            <a:ext cx="24871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  Pinned on the map</a:t>
            </a:r>
            <a:endParaRPr lang="en-US" sz="1300" dirty="0"/>
          </a:p>
        </p:txBody>
      </p:sp>
      <p:sp>
        <p:nvSpPr>
          <p:cNvPr id="14" name="Text 9"/>
          <p:cNvSpPr txBox="1"/>
          <p:nvPr/>
        </p:nvSpPr>
        <p:spPr>
          <a:xfrm>
            <a:off x="6199632" y="2916936"/>
            <a:ext cx="248716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High-severity line, exact GPS location</a:t>
            </a:r>
            <a:endParaRPr lang="en-US" sz="1100" dirty="0"/>
          </a:p>
        </p:txBody>
      </p:sp>
      <p:sp>
        <p:nvSpPr>
          <p:cNvPr id="15" name="Shape 10"/>
          <p:cNvSpPr/>
          <p:nvPr/>
        </p:nvSpPr>
        <p:spPr>
          <a:xfrm>
            <a:off x="457200" y="3611880"/>
            <a:ext cx="2651760" cy="960120"/>
          </a:xfrm>
          <a:prstGeom prst="roundRect">
            <a:avLst>
              <a:gd name="adj" fmla="val 7619"/>
            </a:avLst>
          </a:prstGeom>
          <a:solidFill>
            <a:srgbClr val="F1FAFA"/>
          </a:solidFill>
          <a:ln w="9525">
            <a:solidFill>
              <a:srgbClr val="D7ECEC"/>
            </a:solidFill>
            <a:prstDash val="solid"/>
          </a:ln>
        </p:spPr>
      </p:sp>
      <p:sp>
        <p:nvSpPr>
          <p:cNvPr id="16" name="Shape 11"/>
          <p:cNvSpPr/>
          <p:nvPr/>
        </p:nvSpPr>
        <p:spPr>
          <a:xfrm>
            <a:off x="585216" y="3739896"/>
            <a:ext cx="402336" cy="402336"/>
          </a:xfrm>
          <a:prstGeom prst="ellipse">
            <a:avLst/>
          </a:prstGeom>
          <a:solidFill>
            <a:srgbClr val="379B9A"/>
          </a:solidFill>
          <a:ln w="12700">
            <a:solidFill>
              <a:srgbClr val="379B9A"/>
            </a:solidFill>
            <a:prstDash val="solid"/>
          </a:ln>
        </p:spPr>
      </p:sp>
      <p:pic>
        <p:nvPicPr>
          <p:cNvPr id="17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1777" y="3836457"/>
            <a:ext cx="209215" cy="209215"/>
          </a:xfrm>
          <a:prstGeom prst="rect">
            <a:avLst/>
          </a:prstGeom>
        </p:spPr>
      </p:pic>
      <p:sp>
        <p:nvSpPr>
          <p:cNvPr id="18" name="Text 12"/>
          <p:cNvSpPr txBox="1"/>
          <p:nvPr/>
        </p:nvSpPr>
        <p:spPr>
          <a:xfrm>
            <a:off x="1078992" y="3703320"/>
            <a:ext cx="1938528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Sees what satellites miss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Fallen trees, wires, waterlogging under canopies &amp; overpasses</a:t>
            </a:r>
            <a:endParaRPr lang="en-US" sz="1100" dirty="0"/>
          </a:p>
        </p:txBody>
      </p:sp>
      <p:sp>
        <p:nvSpPr>
          <p:cNvPr id="19" name="Shape 13"/>
          <p:cNvSpPr/>
          <p:nvPr/>
        </p:nvSpPr>
        <p:spPr>
          <a:xfrm>
            <a:off x="3246120" y="3611880"/>
            <a:ext cx="2651760" cy="960120"/>
          </a:xfrm>
          <a:prstGeom prst="roundRect">
            <a:avLst>
              <a:gd name="adj" fmla="val 7619"/>
            </a:avLst>
          </a:prstGeom>
          <a:solidFill>
            <a:srgbClr val="F1FAFA"/>
          </a:solidFill>
          <a:ln w="9525">
            <a:solidFill>
              <a:srgbClr val="D7ECEC"/>
            </a:solidFill>
            <a:prstDash val="solid"/>
          </a:ln>
        </p:spPr>
      </p:sp>
      <p:sp>
        <p:nvSpPr>
          <p:cNvPr id="20" name="Shape 14"/>
          <p:cNvSpPr/>
          <p:nvPr/>
        </p:nvSpPr>
        <p:spPr>
          <a:xfrm>
            <a:off x="3374136" y="3739896"/>
            <a:ext cx="402336" cy="402336"/>
          </a:xfrm>
          <a:prstGeom prst="ellipse">
            <a:avLst/>
          </a:prstGeom>
          <a:solidFill>
            <a:srgbClr val="379B9A"/>
          </a:solidFill>
          <a:ln w="12700">
            <a:solidFill>
              <a:srgbClr val="379B9A"/>
            </a:solidFill>
            <a:prstDash val="solid"/>
          </a:ln>
        </p:spPr>
      </p:sp>
      <p:pic>
        <p:nvPicPr>
          <p:cNvPr id="21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470697" y="3836457"/>
            <a:ext cx="209215" cy="209215"/>
          </a:xfrm>
          <a:prstGeom prst="rect">
            <a:avLst/>
          </a:prstGeom>
        </p:spPr>
      </p:pic>
      <p:sp>
        <p:nvSpPr>
          <p:cNvPr id="22" name="Text 15"/>
          <p:cNvSpPr txBox="1"/>
          <p:nvPr/>
        </p:nvSpPr>
        <p:spPr>
          <a:xfrm>
            <a:off x="3867912" y="3703320"/>
            <a:ext cx="1938528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Exact hazard location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Camera geometry pins the hazard itself, not just the car</a:t>
            </a:r>
            <a:endParaRPr lang="en-US" sz="1100" dirty="0"/>
          </a:p>
        </p:txBody>
      </p:sp>
      <p:sp>
        <p:nvSpPr>
          <p:cNvPr id="23" name="Shape 16"/>
          <p:cNvSpPr/>
          <p:nvPr/>
        </p:nvSpPr>
        <p:spPr>
          <a:xfrm>
            <a:off x="6035040" y="3611880"/>
            <a:ext cx="2651760" cy="960120"/>
          </a:xfrm>
          <a:prstGeom prst="roundRect">
            <a:avLst>
              <a:gd name="adj" fmla="val 7619"/>
            </a:avLst>
          </a:prstGeom>
          <a:solidFill>
            <a:srgbClr val="F1FAFA"/>
          </a:solidFill>
          <a:ln w="9525">
            <a:solidFill>
              <a:srgbClr val="D7ECEC"/>
            </a:solidFill>
            <a:prstDash val="solid"/>
          </a:ln>
        </p:spPr>
      </p:sp>
      <p:sp>
        <p:nvSpPr>
          <p:cNvPr id="24" name="Shape 17"/>
          <p:cNvSpPr/>
          <p:nvPr/>
        </p:nvSpPr>
        <p:spPr>
          <a:xfrm>
            <a:off x="6163056" y="3739896"/>
            <a:ext cx="402336" cy="402336"/>
          </a:xfrm>
          <a:prstGeom prst="ellipse">
            <a:avLst/>
          </a:prstGeom>
          <a:solidFill>
            <a:srgbClr val="379B9A"/>
          </a:solidFill>
          <a:ln w="12700">
            <a:solidFill>
              <a:srgbClr val="379B9A"/>
            </a:solidFill>
            <a:prstDash val="solid"/>
          </a:ln>
        </p:spPr>
      </p:sp>
      <p:pic>
        <p:nvPicPr>
          <p:cNvPr id="25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259617" y="3836457"/>
            <a:ext cx="209215" cy="209215"/>
          </a:xfrm>
          <a:prstGeom prst="rect">
            <a:avLst/>
          </a:prstGeom>
        </p:spPr>
      </p:pic>
      <p:sp>
        <p:nvSpPr>
          <p:cNvPr id="26" name="Text 18"/>
          <p:cNvSpPr txBox="1"/>
          <p:nvPr/>
        </p:nvSpPr>
        <p:spPr>
          <a:xfrm>
            <a:off x="6656832" y="3703320"/>
            <a:ext cx="1938528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Live &amp; standard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Real-time map for responders + GeoJSON for any GIS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549640" y="4864608"/>
            <a:ext cx="457200" cy="237744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4" type="title" hasCustomPrompt="1"/>
          </p:nvPr>
        </p:nvSpPr>
        <p:spPr>
          <a:xfrm>
            <a:off x="1828800" y="109728"/>
            <a:ext cx="5486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TECHNICAL APPROACH</a:t>
            </a:r>
            <a:endParaRPr lang="en-US" sz="22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731520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How it works — in four steps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457200" y="1188720"/>
            <a:ext cx="1810512" cy="2240280"/>
          </a:xfrm>
          <a:prstGeom prst="roundRect">
            <a:avLst>
              <a:gd name="adj" fmla="val 4040"/>
            </a:avLst>
          </a:prstGeom>
          <a:solidFill>
            <a:srgbClr val="F1FAFA"/>
          </a:solidFill>
          <a:ln w="9525">
            <a:solidFill>
              <a:srgbClr val="D7ECEC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042416" y="1389888"/>
            <a:ext cx="640080" cy="640080"/>
          </a:xfrm>
          <a:prstGeom prst="ellipse">
            <a:avLst/>
          </a:prstGeom>
          <a:solidFill>
            <a:srgbClr val="379B9A"/>
          </a:solidFill>
          <a:ln w="12700">
            <a:solidFill>
              <a:srgbClr val="379B9A"/>
            </a:solidFill>
            <a:prstDash val="solid"/>
          </a:ln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96035" y="1543507"/>
            <a:ext cx="332842" cy="332842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548640" y="2121408"/>
            <a:ext cx="162763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 Capture</a:t>
            </a:r>
            <a:endParaRPr lang="en-US" sz="1600" dirty="0"/>
          </a:p>
        </p:txBody>
      </p:sp>
      <p:sp>
        <p:nvSpPr>
          <p:cNvPr id="8" name="Text 5"/>
          <p:cNvSpPr txBox="1"/>
          <p:nvPr/>
        </p:nvSpPr>
        <p:spPr>
          <a:xfrm>
            <a:off x="594360" y="2450592"/>
            <a:ext cx="153619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Phone or dashcam records video with GPS</a:t>
            </a:r>
            <a:endParaRPr lang="en-US" sz="1100" dirty="0"/>
          </a:p>
        </p:txBody>
      </p:sp>
      <p:sp>
        <p:nvSpPr>
          <p:cNvPr id="9" name="Shape 6"/>
          <p:cNvSpPr/>
          <p:nvPr/>
        </p:nvSpPr>
        <p:spPr>
          <a:xfrm>
            <a:off x="731520" y="3035808"/>
            <a:ext cx="1261872" cy="27432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379B9A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731520" y="3035808"/>
            <a:ext cx="12618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379B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MP4 + GPX</a:t>
            </a:r>
            <a:endParaRPr lang="en-US" sz="1000" dirty="0"/>
          </a:p>
        </p:txBody>
      </p:sp>
      <p:sp>
        <p:nvSpPr>
          <p:cNvPr id="11" name="Shape 8"/>
          <p:cNvSpPr/>
          <p:nvPr/>
        </p:nvSpPr>
        <p:spPr>
          <a:xfrm>
            <a:off x="2322576" y="2199132"/>
            <a:ext cx="219456" cy="219456"/>
          </a:xfrm>
          <a:prstGeom prst="rightArrow">
            <a:avLst/>
          </a:prstGeom>
          <a:solidFill>
            <a:srgbClr val="F47B20"/>
          </a:solidFill>
          <a:ln w="12700">
            <a:solidFill>
              <a:srgbClr val="F47B20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2596896" y="1188720"/>
            <a:ext cx="1810512" cy="2240280"/>
          </a:xfrm>
          <a:prstGeom prst="roundRect">
            <a:avLst>
              <a:gd name="adj" fmla="val 4040"/>
            </a:avLst>
          </a:prstGeom>
          <a:solidFill>
            <a:srgbClr val="F1FAFA"/>
          </a:solidFill>
          <a:ln w="9525">
            <a:solidFill>
              <a:srgbClr val="D7ECEC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3182112" y="1389888"/>
            <a:ext cx="640080" cy="640080"/>
          </a:xfrm>
          <a:prstGeom prst="ellipse">
            <a:avLst/>
          </a:prstGeom>
          <a:solidFill>
            <a:srgbClr val="379B9A"/>
          </a:solidFill>
          <a:ln w="12700">
            <a:solidFill>
              <a:srgbClr val="379B9A"/>
            </a:solidFill>
            <a:prstDash val="solid"/>
          </a:ln>
        </p:spPr>
      </p:sp>
      <p:pic>
        <p:nvPicPr>
          <p:cNvPr id="1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35731" y="1543507"/>
            <a:ext cx="332842" cy="332842"/>
          </a:xfrm>
          <a:prstGeom prst="rect">
            <a:avLst/>
          </a:prstGeom>
        </p:spPr>
      </p:pic>
      <p:sp>
        <p:nvSpPr>
          <p:cNvPr id="15" name="Text 11"/>
          <p:cNvSpPr txBox="1"/>
          <p:nvPr/>
        </p:nvSpPr>
        <p:spPr>
          <a:xfrm>
            <a:off x="2688336" y="2121408"/>
            <a:ext cx="162763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 Detect</a:t>
            </a:r>
            <a:endParaRPr lang="en-US" sz="1600" dirty="0"/>
          </a:p>
        </p:txBody>
      </p:sp>
      <p:sp>
        <p:nvSpPr>
          <p:cNvPr id="16" name="Text 12"/>
          <p:cNvSpPr txBox="1"/>
          <p:nvPr/>
        </p:nvSpPr>
        <p:spPr>
          <a:xfrm>
            <a:off x="2734056" y="2450592"/>
            <a:ext cx="153619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finds potholes, cracks, floods, debris in each frame</a:t>
            </a:r>
            <a:endParaRPr lang="en-US" sz="1100" dirty="0"/>
          </a:p>
        </p:txBody>
      </p:sp>
      <p:sp>
        <p:nvSpPr>
          <p:cNvPr id="17" name="Shape 13"/>
          <p:cNvSpPr/>
          <p:nvPr/>
        </p:nvSpPr>
        <p:spPr>
          <a:xfrm>
            <a:off x="2871216" y="3035808"/>
            <a:ext cx="1261872" cy="27432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379B9A"/>
            </a:solidFill>
            <a:prstDash val="solid"/>
          </a:ln>
        </p:spPr>
      </p:sp>
      <p:sp>
        <p:nvSpPr>
          <p:cNvPr id="18" name="Text 14"/>
          <p:cNvSpPr txBox="1"/>
          <p:nvPr/>
        </p:nvSpPr>
        <p:spPr>
          <a:xfrm>
            <a:off x="2871216" y="3035808"/>
            <a:ext cx="12618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379B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YOLOv8 + CLIP</a:t>
            </a:r>
            <a:endParaRPr lang="en-US" sz="1000" dirty="0"/>
          </a:p>
        </p:txBody>
      </p:sp>
      <p:sp>
        <p:nvSpPr>
          <p:cNvPr id="19" name="Shape 15"/>
          <p:cNvSpPr/>
          <p:nvPr/>
        </p:nvSpPr>
        <p:spPr>
          <a:xfrm>
            <a:off x="4462272" y="2199132"/>
            <a:ext cx="219456" cy="219456"/>
          </a:xfrm>
          <a:prstGeom prst="rightArrow">
            <a:avLst/>
          </a:prstGeom>
          <a:solidFill>
            <a:srgbClr val="F47B20"/>
          </a:solidFill>
          <a:ln w="12700">
            <a:solidFill>
              <a:srgbClr val="F47B20"/>
            </a:solidFill>
            <a:prstDash val="solid"/>
          </a:ln>
        </p:spPr>
      </p:sp>
      <p:sp>
        <p:nvSpPr>
          <p:cNvPr id="20" name="Shape 16"/>
          <p:cNvSpPr/>
          <p:nvPr/>
        </p:nvSpPr>
        <p:spPr>
          <a:xfrm>
            <a:off x="4736592" y="1188720"/>
            <a:ext cx="1810512" cy="2240280"/>
          </a:xfrm>
          <a:prstGeom prst="roundRect">
            <a:avLst>
              <a:gd name="adj" fmla="val 4040"/>
            </a:avLst>
          </a:prstGeom>
          <a:solidFill>
            <a:srgbClr val="F1FAFA"/>
          </a:solidFill>
          <a:ln w="9525">
            <a:solidFill>
              <a:srgbClr val="D7ECEC"/>
            </a:solidFill>
            <a:prstDash val="solid"/>
          </a:ln>
        </p:spPr>
      </p:sp>
      <p:sp>
        <p:nvSpPr>
          <p:cNvPr id="21" name="Shape 17"/>
          <p:cNvSpPr/>
          <p:nvPr/>
        </p:nvSpPr>
        <p:spPr>
          <a:xfrm>
            <a:off x="5321808" y="1389888"/>
            <a:ext cx="640080" cy="640080"/>
          </a:xfrm>
          <a:prstGeom prst="ellipse">
            <a:avLst/>
          </a:prstGeom>
          <a:solidFill>
            <a:srgbClr val="379B9A"/>
          </a:solidFill>
          <a:ln w="12700">
            <a:solidFill>
              <a:srgbClr val="379B9A"/>
            </a:solidFill>
            <a:prstDash val="solid"/>
          </a:ln>
        </p:spPr>
      </p:sp>
      <p:pic>
        <p:nvPicPr>
          <p:cNvPr id="2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75427" y="1543507"/>
            <a:ext cx="332842" cy="332842"/>
          </a:xfrm>
          <a:prstGeom prst="rect">
            <a:avLst/>
          </a:prstGeom>
        </p:spPr>
      </p:pic>
      <p:sp>
        <p:nvSpPr>
          <p:cNvPr id="23" name="Text 18"/>
          <p:cNvSpPr txBox="1"/>
          <p:nvPr/>
        </p:nvSpPr>
        <p:spPr>
          <a:xfrm>
            <a:off x="4828032" y="2121408"/>
            <a:ext cx="162763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 Locate</a:t>
            </a:r>
            <a:endParaRPr lang="en-US" sz="1600" dirty="0"/>
          </a:p>
        </p:txBody>
      </p:sp>
      <p:sp>
        <p:nvSpPr>
          <p:cNvPr id="24" name="Text 19"/>
          <p:cNvSpPr txBox="1"/>
          <p:nvPr/>
        </p:nvSpPr>
        <p:spPr>
          <a:xfrm>
            <a:off x="4873752" y="2450592"/>
            <a:ext cx="153619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Camera angle + GPS turn each hazard into a map point</a:t>
            </a:r>
            <a:endParaRPr lang="en-US" sz="1100" dirty="0"/>
          </a:p>
        </p:txBody>
      </p:sp>
      <p:sp>
        <p:nvSpPr>
          <p:cNvPr id="25" name="Shape 20"/>
          <p:cNvSpPr/>
          <p:nvPr/>
        </p:nvSpPr>
        <p:spPr>
          <a:xfrm>
            <a:off x="5010912" y="3035808"/>
            <a:ext cx="1261872" cy="27432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379B9A"/>
            </a:solidFill>
            <a:prstDash val="solid"/>
          </a:ln>
        </p:spPr>
      </p:sp>
      <p:sp>
        <p:nvSpPr>
          <p:cNvPr id="26" name="Text 21"/>
          <p:cNvSpPr txBox="1"/>
          <p:nvPr/>
        </p:nvSpPr>
        <p:spPr>
          <a:xfrm>
            <a:off x="5010912" y="3035808"/>
            <a:ext cx="12618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379B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Geometry + GPS</a:t>
            </a:r>
            <a:endParaRPr lang="en-US" sz="1000" dirty="0"/>
          </a:p>
        </p:txBody>
      </p:sp>
      <p:sp>
        <p:nvSpPr>
          <p:cNvPr id="27" name="Shape 22"/>
          <p:cNvSpPr/>
          <p:nvPr/>
        </p:nvSpPr>
        <p:spPr>
          <a:xfrm>
            <a:off x="6601968" y="2199132"/>
            <a:ext cx="219456" cy="219456"/>
          </a:xfrm>
          <a:prstGeom prst="rightArrow">
            <a:avLst/>
          </a:prstGeom>
          <a:solidFill>
            <a:srgbClr val="F47B20"/>
          </a:solidFill>
          <a:ln w="12700">
            <a:solidFill>
              <a:srgbClr val="F47B20"/>
            </a:solidFill>
            <a:prstDash val="solid"/>
          </a:ln>
        </p:spPr>
      </p:sp>
      <p:sp>
        <p:nvSpPr>
          <p:cNvPr id="28" name="Shape 23"/>
          <p:cNvSpPr/>
          <p:nvPr/>
        </p:nvSpPr>
        <p:spPr>
          <a:xfrm>
            <a:off x="6876288" y="1188720"/>
            <a:ext cx="1810512" cy="2240280"/>
          </a:xfrm>
          <a:prstGeom prst="roundRect">
            <a:avLst>
              <a:gd name="adj" fmla="val 4040"/>
            </a:avLst>
          </a:prstGeom>
          <a:solidFill>
            <a:srgbClr val="F1FAFA"/>
          </a:solidFill>
          <a:ln w="9525">
            <a:solidFill>
              <a:srgbClr val="D7ECEC"/>
            </a:solidFill>
            <a:prstDash val="solid"/>
          </a:ln>
        </p:spPr>
      </p:sp>
      <p:sp>
        <p:nvSpPr>
          <p:cNvPr id="29" name="Shape 24"/>
          <p:cNvSpPr/>
          <p:nvPr/>
        </p:nvSpPr>
        <p:spPr>
          <a:xfrm>
            <a:off x="7461504" y="1389888"/>
            <a:ext cx="640080" cy="640080"/>
          </a:xfrm>
          <a:prstGeom prst="ellipse">
            <a:avLst/>
          </a:prstGeom>
          <a:solidFill>
            <a:srgbClr val="379B9A"/>
          </a:solidFill>
          <a:ln w="12700">
            <a:solidFill>
              <a:srgbClr val="379B9A"/>
            </a:solidFill>
            <a:prstDash val="solid"/>
          </a:ln>
        </p:spPr>
      </p:sp>
      <p:pic>
        <p:nvPicPr>
          <p:cNvPr id="30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615123" y="1543507"/>
            <a:ext cx="332842" cy="332842"/>
          </a:xfrm>
          <a:prstGeom prst="rect">
            <a:avLst/>
          </a:prstGeom>
        </p:spPr>
      </p:pic>
      <p:sp>
        <p:nvSpPr>
          <p:cNvPr id="31" name="Text 25"/>
          <p:cNvSpPr txBox="1"/>
          <p:nvPr/>
        </p:nvSpPr>
        <p:spPr>
          <a:xfrm>
            <a:off x="6967728" y="2121408"/>
            <a:ext cx="162763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 Map</a:t>
            </a:r>
            <a:endParaRPr lang="en-US" sz="1600" dirty="0"/>
          </a:p>
        </p:txBody>
      </p:sp>
      <p:sp>
        <p:nvSpPr>
          <p:cNvPr id="32" name="Text 26"/>
          <p:cNvSpPr txBox="1"/>
          <p:nvPr/>
        </p:nvSpPr>
        <p:spPr>
          <a:xfrm>
            <a:off x="7013448" y="2450592"/>
            <a:ext cx="153619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Live dashboard; one-click GeoJSON export</a:t>
            </a:r>
            <a:endParaRPr lang="en-US" sz="1100" dirty="0"/>
          </a:p>
        </p:txBody>
      </p:sp>
      <p:sp>
        <p:nvSpPr>
          <p:cNvPr id="33" name="Shape 27"/>
          <p:cNvSpPr/>
          <p:nvPr/>
        </p:nvSpPr>
        <p:spPr>
          <a:xfrm>
            <a:off x="7150608" y="3035808"/>
            <a:ext cx="1261872" cy="27432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379B9A"/>
            </a:solidFill>
            <a:prstDash val="solid"/>
          </a:ln>
        </p:spPr>
      </p:sp>
      <p:sp>
        <p:nvSpPr>
          <p:cNvPr id="34" name="Text 28"/>
          <p:cNvSpPr txBox="1"/>
          <p:nvPr/>
        </p:nvSpPr>
        <p:spPr>
          <a:xfrm>
            <a:off x="7150608" y="3035808"/>
            <a:ext cx="12618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379B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Leaflet + FastAPI</a:t>
            </a:r>
            <a:endParaRPr lang="en-US" sz="1000" dirty="0"/>
          </a:p>
        </p:txBody>
      </p:sp>
      <p:sp>
        <p:nvSpPr>
          <p:cNvPr id="35" name="Text 29"/>
          <p:cNvSpPr txBox="1"/>
          <p:nvPr/>
        </p:nvSpPr>
        <p:spPr>
          <a:xfrm>
            <a:off x="457200" y="3657600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379B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Built with</a:t>
            </a:r>
            <a:endParaRPr lang="en-US" sz="1200" dirty="0"/>
          </a:p>
        </p:txBody>
      </p:sp>
      <p:sp>
        <p:nvSpPr>
          <p:cNvPr id="36" name="Shape 30"/>
          <p:cNvSpPr/>
          <p:nvPr/>
        </p:nvSpPr>
        <p:spPr>
          <a:xfrm>
            <a:off x="1417320" y="3657600"/>
            <a:ext cx="630936" cy="274320"/>
          </a:xfrm>
          <a:prstGeom prst="roundRect">
            <a:avLst>
              <a:gd name="adj" fmla="val 50000"/>
            </a:avLst>
          </a:prstGeom>
          <a:solidFill>
            <a:srgbClr val="F1FAFA"/>
          </a:solidFill>
          <a:ln w="9525">
            <a:solidFill>
              <a:srgbClr val="D7ECEC"/>
            </a:solidFill>
            <a:prstDash val="solid"/>
          </a:ln>
        </p:spPr>
      </p:sp>
      <p:sp>
        <p:nvSpPr>
          <p:cNvPr id="37" name="Text 31"/>
          <p:cNvSpPr txBox="1"/>
          <p:nvPr/>
        </p:nvSpPr>
        <p:spPr>
          <a:xfrm>
            <a:off x="1417320" y="3657600"/>
            <a:ext cx="63093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Python</a:t>
            </a:r>
            <a:endParaRPr lang="en-US" sz="1000" dirty="0"/>
          </a:p>
        </p:txBody>
      </p:sp>
      <p:sp>
        <p:nvSpPr>
          <p:cNvPr id="38" name="Shape 32"/>
          <p:cNvSpPr/>
          <p:nvPr/>
        </p:nvSpPr>
        <p:spPr>
          <a:xfrm>
            <a:off x="2139696" y="3657600"/>
            <a:ext cx="630936" cy="274320"/>
          </a:xfrm>
          <a:prstGeom prst="roundRect">
            <a:avLst>
              <a:gd name="adj" fmla="val 50000"/>
            </a:avLst>
          </a:prstGeom>
          <a:solidFill>
            <a:srgbClr val="F1FAFA"/>
          </a:solidFill>
          <a:ln w="9525">
            <a:solidFill>
              <a:srgbClr val="D7ECEC"/>
            </a:solidFill>
            <a:prstDash val="solid"/>
          </a:ln>
        </p:spPr>
      </p:sp>
      <p:sp>
        <p:nvSpPr>
          <p:cNvPr id="39" name="Text 33"/>
          <p:cNvSpPr txBox="1"/>
          <p:nvPr/>
        </p:nvSpPr>
        <p:spPr>
          <a:xfrm>
            <a:off x="2139696" y="3657600"/>
            <a:ext cx="63093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YOLOv8</a:t>
            </a:r>
            <a:endParaRPr lang="en-US" sz="1000" dirty="0"/>
          </a:p>
        </p:txBody>
      </p:sp>
      <p:sp>
        <p:nvSpPr>
          <p:cNvPr id="40" name="Shape 34"/>
          <p:cNvSpPr/>
          <p:nvPr/>
        </p:nvSpPr>
        <p:spPr>
          <a:xfrm>
            <a:off x="2862072" y="3657600"/>
            <a:ext cx="941832" cy="274320"/>
          </a:xfrm>
          <a:prstGeom prst="roundRect">
            <a:avLst>
              <a:gd name="adj" fmla="val 50000"/>
            </a:avLst>
          </a:prstGeom>
          <a:solidFill>
            <a:srgbClr val="F1FAFA"/>
          </a:solidFill>
          <a:ln w="9525">
            <a:solidFill>
              <a:srgbClr val="D7ECEC"/>
            </a:solidFill>
            <a:prstDash val="solid"/>
          </a:ln>
        </p:spPr>
      </p:sp>
      <p:sp>
        <p:nvSpPr>
          <p:cNvPr id="41" name="Text 35"/>
          <p:cNvSpPr txBox="1"/>
          <p:nvPr/>
        </p:nvSpPr>
        <p:spPr>
          <a:xfrm>
            <a:off x="2862072" y="3657600"/>
            <a:ext cx="9418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YOLO-World</a:t>
            </a:r>
            <a:endParaRPr lang="en-US" sz="1000" dirty="0"/>
          </a:p>
        </p:txBody>
      </p:sp>
      <p:sp>
        <p:nvSpPr>
          <p:cNvPr id="42" name="Shape 36"/>
          <p:cNvSpPr/>
          <p:nvPr/>
        </p:nvSpPr>
        <p:spPr>
          <a:xfrm>
            <a:off x="3895344" y="3657600"/>
            <a:ext cx="475488" cy="274320"/>
          </a:xfrm>
          <a:prstGeom prst="roundRect">
            <a:avLst>
              <a:gd name="adj" fmla="val 50000"/>
            </a:avLst>
          </a:prstGeom>
          <a:solidFill>
            <a:srgbClr val="F1FAFA"/>
          </a:solidFill>
          <a:ln w="9525">
            <a:solidFill>
              <a:srgbClr val="D7ECEC"/>
            </a:solidFill>
            <a:prstDash val="solid"/>
          </a:ln>
        </p:spPr>
      </p:sp>
      <p:sp>
        <p:nvSpPr>
          <p:cNvPr id="43" name="Text 37"/>
          <p:cNvSpPr txBox="1"/>
          <p:nvPr/>
        </p:nvSpPr>
        <p:spPr>
          <a:xfrm>
            <a:off x="3895344" y="3657600"/>
            <a:ext cx="4754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CLIP</a:t>
            </a:r>
            <a:endParaRPr lang="en-US" sz="1000" dirty="0"/>
          </a:p>
        </p:txBody>
      </p:sp>
      <p:sp>
        <p:nvSpPr>
          <p:cNvPr id="44" name="Shape 38"/>
          <p:cNvSpPr/>
          <p:nvPr/>
        </p:nvSpPr>
        <p:spPr>
          <a:xfrm>
            <a:off x="4462272" y="3657600"/>
            <a:ext cx="630936" cy="274320"/>
          </a:xfrm>
          <a:prstGeom prst="roundRect">
            <a:avLst>
              <a:gd name="adj" fmla="val 50000"/>
            </a:avLst>
          </a:prstGeom>
          <a:solidFill>
            <a:srgbClr val="F1FAFA"/>
          </a:solidFill>
          <a:ln w="9525">
            <a:solidFill>
              <a:srgbClr val="D7ECEC"/>
            </a:solidFill>
            <a:prstDash val="solid"/>
          </a:ln>
        </p:spPr>
      </p:sp>
      <p:sp>
        <p:nvSpPr>
          <p:cNvPr id="45" name="Text 39"/>
          <p:cNvSpPr txBox="1"/>
          <p:nvPr/>
        </p:nvSpPr>
        <p:spPr>
          <a:xfrm>
            <a:off x="4462272" y="3657600"/>
            <a:ext cx="63093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OpenCV</a:t>
            </a:r>
            <a:endParaRPr lang="en-US" sz="1000" dirty="0"/>
          </a:p>
        </p:txBody>
      </p:sp>
      <p:sp>
        <p:nvSpPr>
          <p:cNvPr id="46" name="Shape 40"/>
          <p:cNvSpPr/>
          <p:nvPr/>
        </p:nvSpPr>
        <p:spPr>
          <a:xfrm>
            <a:off x="5184648" y="3657600"/>
            <a:ext cx="708660" cy="274320"/>
          </a:xfrm>
          <a:prstGeom prst="roundRect">
            <a:avLst>
              <a:gd name="adj" fmla="val 50000"/>
            </a:avLst>
          </a:prstGeom>
          <a:solidFill>
            <a:srgbClr val="F1FAFA"/>
          </a:solidFill>
          <a:ln w="9525">
            <a:solidFill>
              <a:srgbClr val="D7ECEC"/>
            </a:solidFill>
            <a:prstDash val="solid"/>
          </a:ln>
        </p:spPr>
      </p:sp>
      <p:sp>
        <p:nvSpPr>
          <p:cNvPr id="47" name="Text 41"/>
          <p:cNvSpPr txBox="1"/>
          <p:nvPr/>
        </p:nvSpPr>
        <p:spPr>
          <a:xfrm>
            <a:off x="5184648" y="3657600"/>
            <a:ext cx="7086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FastAPI</a:t>
            </a:r>
            <a:endParaRPr lang="en-US" sz="1000" dirty="0"/>
          </a:p>
        </p:txBody>
      </p:sp>
      <p:sp>
        <p:nvSpPr>
          <p:cNvPr id="48" name="Shape 42"/>
          <p:cNvSpPr/>
          <p:nvPr/>
        </p:nvSpPr>
        <p:spPr>
          <a:xfrm>
            <a:off x="5984748" y="3657600"/>
            <a:ext cx="708660" cy="274320"/>
          </a:xfrm>
          <a:prstGeom prst="roundRect">
            <a:avLst>
              <a:gd name="adj" fmla="val 50000"/>
            </a:avLst>
          </a:prstGeom>
          <a:solidFill>
            <a:srgbClr val="F1FAFA"/>
          </a:solidFill>
          <a:ln w="9525">
            <a:solidFill>
              <a:srgbClr val="D7ECEC"/>
            </a:solidFill>
            <a:prstDash val="solid"/>
          </a:ln>
        </p:spPr>
      </p:sp>
      <p:sp>
        <p:nvSpPr>
          <p:cNvPr id="49" name="Text 43"/>
          <p:cNvSpPr txBox="1"/>
          <p:nvPr/>
        </p:nvSpPr>
        <p:spPr>
          <a:xfrm>
            <a:off x="5984748" y="3657600"/>
            <a:ext cx="7086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Leaflet</a:t>
            </a:r>
            <a:endParaRPr lang="en-US" sz="1000" dirty="0"/>
          </a:p>
        </p:txBody>
      </p:sp>
      <p:sp>
        <p:nvSpPr>
          <p:cNvPr id="50" name="Shape 44"/>
          <p:cNvSpPr/>
          <p:nvPr/>
        </p:nvSpPr>
        <p:spPr>
          <a:xfrm>
            <a:off x="6784848" y="3657600"/>
            <a:ext cx="708660" cy="274320"/>
          </a:xfrm>
          <a:prstGeom prst="roundRect">
            <a:avLst>
              <a:gd name="adj" fmla="val 50000"/>
            </a:avLst>
          </a:prstGeom>
          <a:solidFill>
            <a:srgbClr val="F1FAFA"/>
          </a:solidFill>
          <a:ln w="9525">
            <a:solidFill>
              <a:srgbClr val="D7ECEC"/>
            </a:solidFill>
            <a:prstDash val="solid"/>
          </a:ln>
        </p:spPr>
      </p:sp>
      <p:sp>
        <p:nvSpPr>
          <p:cNvPr id="51" name="Text 45"/>
          <p:cNvSpPr txBox="1"/>
          <p:nvPr/>
        </p:nvSpPr>
        <p:spPr>
          <a:xfrm>
            <a:off x="6784848" y="3657600"/>
            <a:ext cx="7086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GeoJSON</a:t>
            </a:r>
            <a:endParaRPr lang="en-US" sz="1000" dirty="0"/>
          </a:p>
        </p:txBody>
      </p:sp>
      <p:sp>
        <p:nvSpPr>
          <p:cNvPr id="52" name="Shape 46"/>
          <p:cNvSpPr/>
          <p:nvPr/>
        </p:nvSpPr>
        <p:spPr>
          <a:xfrm>
            <a:off x="457200" y="4096512"/>
            <a:ext cx="329184" cy="329184"/>
          </a:xfrm>
          <a:prstGeom prst="ellipse">
            <a:avLst/>
          </a:prstGeom>
          <a:solidFill>
            <a:srgbClr val="F47B20"/>
          </a:solidFill>
          <a:ln w="12700">
            <a:solidFill>
              <a:srgbClr val="F47B20"/>
            </a:solidFill>
            <a:prstDash val="solid"/>
          </a:ln>
        </p:spPr>
      </p:sp>
      <p:pic>
        <p:nvPicPr>
          <p:cNvPr id="53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36204" y="4175516"/>
            <a:ext cx="171176" cy="171176"/>
          </a:xfrm>
          <a:prstGeom prst="rect">
            <a:avLst/>
          </a:prstGeom>
        </p:spPr>
      </p:pic>
      <p:sp>
        <p:nvSpPr>
          <p:cNvPr id="54" name="Text 47"/>
          <p:cNvSpPr txBox="1"/>
          <p:nvPr/>
        </p:nvSpPr>
        <p:spPr>
          <a:xfrm>
            <a:off x="896112" y="4078224"/>
            <a:ext cx="7772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Runs on a laptop GPU (Apple M5) — no cloud needed. </a:t>
            </a:r>
            <a:pPr indent="0" marL="0">
              <a:buNone/>
            </a:pPr>
            <a:r>
              <a:rPr lang="en-US" sz="1200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Three ways in: upload a drive, replay it live, or stream a phone camera.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549640" y="4864608"/>
            <a:ext cx="457200" cy="237744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4" type="title" hasCustomPrompt="1"/>
          </p:nvPr>
        </p:nvSpPr>
        <p:spPr>
          <a:xfrm>
            <a:off x="1828800" y="109728"/>
            <a:ext cx="5486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TECHNICAL APPROACH — WORKING PROTOTYPE</a:t>
            </a:r>
            <a:endParaRPr lang="en-US" sz="2200" dirty="0"/>
          </a:p>
        </p:txBody>
      </p:sp>
      <p:pic>
        <p:nvPicPr>
          <p:cNvPr id="3" name="Image 0" descr="/private/tmp/claude-501/-Applications-XAMPP-xamppfiles-htdocs-hackathon/dcf9ca28-56d8-4579-98cf-baafdae8adea/scratchpad/ppt/live_processing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777240"/>
            <a:ext cx="5212080" cy="2739962"/>
          </a:xfrm>
          <a:prstGeom prst="rect">
            <a:avLst/>
          </a:prstGeom>
          <a:effectLst>
            <a:outerShdw sx="100000" sy="100000" kx="0" ky="0" algn="bl" rotWithShape="0" blurRad="76200" dist="25400" dir="5400000">
              <a:srgbClr val="000000">
                <a:alpha val="25000"/>
              </a:srgbClr>
            </a:outerShdw>
          </a:effectLst>
        </p:spPr>
      </p:pic>
      <p:sp>
        <p:nvSpPr>
          <p:cNvPr id="4" name="Text 1"/>
          <p:cNvSpPr txBox="1"/>
          <p:nvPr/>
        </p:nvSpPr>
        <p:spPr>
          <a:xfrm>
            <a:off x="457200" y="3590354"/>
            <a:ext cx="5212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Live view while a drive is processed: the vehicle moves along the route and hazards appear on the map as they are found.</a:t>
            </a:r>
            <a:endParaRPr lang="en-US" sz="1000" dirty="0"/>
          </a:p>
        </p:txBody>
      </p:sp>
      <p:sp>
        <p:nvSpPr>
          <p:cNvPr id="5" name="Shape 2"/>
          <p:cNvSpPr/>
          <p:nvPr/>
        </p:nvSpPr>
        <p:spPr>
          <a:xfrm>
            <a:off x="5897880" y="777240"/>
            <a:ext cx="2788920" cy="603504"/>
          </a:xfrm>
          <a:prstGeom prst="roundRect">
            <a:avLst>
              <a:gd name="adj" fmla="val 12121"/>
            </a:avLst>
          </a:prstGeom>
          <a:solidFill>
            <a:srgbClr val="F1FAFA"/>
          </a:solidFill>
          <a:ln w="9525">
            <a:solidFill>
              <a:srgbClr val="D7ECEC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6016752" y="822960"/>
            <a:ext cx="9144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379B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22 fps</a:t>
            </a:r>
            <a:endParaRPr lang="en-US" sz="2200" dirty="0"/>
          </a:p>
        </p:txBody>
      </p:sp>
      <p:sp>
        <p:nvSpPr>
          <p:cNvPr id="7" name="Text 4"/>
          <p:cNvSpPr txBox="1"/>
          <p:nvPr/>
        </p:nvSpPr>
        <p:spPr>
          <a:xfrm>
            <a:off x="6949440" y="822960"/>
            <a:ext cx="1664208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speed on a laptop GPU</a:t>
            </a:r>
            <a:endParaRPr lang="en-US" sz="1100" dirty="0"/>
          </a:p>
        </p:txBody>
      </p:sp>
      <p:sp>
        <p:nvSpPr>
          <p:cNvPr id="8" name="Shape 5"/>
          <p:cNvSpPr/>
          <p:nvPr/>
        </p:nvSpPr>
        <p:spPr>
          <a:xfrm>
            <a:off x="5897880" y="1490472"/>
            <a:ext cx="2788920" cy="603504"/>
          </a:xfrm>
          <a:prstGeom prst="roundRect">
            <a:avLst>
              <a:gd name="adj" fmla="val 12121"/>
            </a:avLst>
          </a:prstGeom>
          <a:solidFill>
            <a:srgbClr val="F1FAFA"/>
          </a:solidFill>
          <a:ln w="9525">
            <a:solidFill>
              <a:srgbClr val="D7ECEC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6016752" y="1536192"/>
            <a:ext cx="9144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379B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4×</a:t>
            </a:r>
            <a:endParaRPr lang="en-US" sz="2200" dirty="0"/>
          </a:p>
        </p:txBody>
      </p:sp>
      <p:sp>
        <p:nvSpPr>
          <p:cNvPr id="10" name="Text 7"/>
          <p:cNvSpPr txBox="1"/>
          <p:nvPr/>
        </p:nvSpPr>
        <p:spPr>
          <a:xfrm>
            <a:off x="6949440" y="1536192"/>
            <a:ext cx="1664208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faster than real time</a:t>
            </a:r>
            <a:endParaRPr lang="en-US" sz="1100" dirty="0"/>
          </a:p>
        </p:txBody>
      </p:sp>
      <p:sp>
        <p:nvSpPr>
          <p:cNvPr id="11" name="Shape 8"/>
          <p:cNvSpPr/>
          <p:nvPr/>
        </p:nvSpPr>
        <p:spPr>
          <a:xfrm>
            <a:off x="5897880" y="2203704"/>
            <a:ext cx="2788920" cy="603504"/>
          </a:xfrm>
          <a:prstGeom prst="roundRect">
            <a:avLst>
              <a:gd name="adj" fmla="val 12121"/>
            </a:avLst>
          </a:prstGeom>
          <a:solidFill>
            <a:srgbClr val="F1FAFA"/>
          </a:solidFill>
          <a:ln w="9525">
            <a:solidFill>
              <a:srgbClr val="D7ECEC"/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6016752" y="2249424"/>
            <a:ext cx="9144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379B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2200" dirty="0"/>
          </a:p>
        </p:txBody>
      </p:sp>
      <p:sp>
        <p:nvSpPr>
          <p:cNvPr id="13" name="Text 10"/>
          <p:cNvSpPr txBox="1"/>
          <p:nvPr/>
        </p:nvSpPr>
        <p:spPr>
          <a:xfrm>
            <a:off x="6949440" y="2249424"/>
            <a:ext cx="1664208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inputs: upload · live replay · phone</a:t>
            </a:r>
            <a:endParaRPr lang="en-US" sz="1100" dirty="0"/>
          </a:p>
        </p:txBody>
      </p:sp>
      <p:pic>
        <p:nvPicPr>
          <p:cNvPr id="14" name="Image 1" descr="/private/tmp/claude-501/-Applications-XAMPP-xamppfiles-htdocs-hackathon/dcf9ca28-56d8-4579-98cf-baafdae8adea/scratchpad/ppt/pothole.jp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5897880" y="2971800"/>
            <a:ext cx="2788920" cy="1280160"/>
          </a:xfrm>
          <a:prstGeom prst="rect">
            <a:avLst/>
          </a:prstGeom>
        </p:spPr>
      </p:pic>
      <p:sp>
        <p:nvSpPr>
          <p:cNvPr id="15" name="Text 11"/>
          <p:cNvSpPr txBox="1"/>
          <p:nvPr/>
        </p:nvSpPr>
        <p:spPr>
          <a:xfrm>
            <a:off x="5897880" y="4297680"/>
            <a:ext cx="2788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Evidence photo saved with every hazard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549640" y="4864608"/>
            <a:ext cx="457200" cy="237744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4" type="title" hasCustomPrompt="1"/>
          </p:nvPr>
        </p:nvSpPr>
        <p:spPr>
          <a:xfrm>
            <a:off x="1828800" y="109728"/>
            <a:ext cx="5486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FEASIBILITY AND VIABILITY</a:t>
            </a:r>
            <a:endParaRPr lang="en-US" sz="22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7315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79B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Feasibility analysis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457200" y="1051560"/>
            <a:ext cx="2651760" cy="960120"/>
          </a:xfrm>
          <a:prstGeom prst="roundRect">
            <a:avLst>
              <a:gd name="adj" fmla="val 7619"/>
            </a:avLst>
          </a:prstGeom>
          <a:solidFill>
            <a:srgbClr val="F1FAFA"/>
          </a:solidFill>
          <a:ln w="9525">
            <a:solidFill>
              <a:srgbClr val="D7ECEC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66928" y="1161288"/>
            <a:ext cx="365760" cy="365760"/>
          </a:xfrm>
          <a:prstGeom prst="ellipse">
            <a:avLst/>
          </a:prstGeom>
          <a:solidFill>
            <a:srgbClr val="379B9A"/>
          </a:solidFill>
          <a:ln w="12700">
            <a:solidFill>
              <a:srgbClr val="379B9A"/>
            </a:solidFill>
            <a:prstDash val="solid"/>
          </a:ln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54710" y="1249070"/>
            <a:ext cx="190195" cy="190195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1024128" y="1115568"/>
            <a:ext cx="2011680" cy="8503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Already working end-to-end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Prototype built &amp; tested, incl. live mode and a phone-as-dashcam</a:t>
            </a:r>
            <a:endParaRPr lang="en-US" sz="1100" dirty="0"/>
          </a:p>
        </p:txBody>
      </p:sp>
      <p:sp>
        <p:nvSpPr>
          <p:cNvPr id="8" name="Shape 5"/>
          <p:cNvSpPr/>
          <p:nvPr/>
        </p:nvSpPr>
        <p:spPr>
          <a:xfrm>
            <a:off x="3246120" y="1051560"/>
            <a:ext cx="2651760" cy="960120"/>
          </a:xfrm>
          <a:prstGeom prst="roundRect">
            <a:avLst>
              <a:gd name="adj" fmla="val 7619"/>
            </a:avLst>
          </a:prstGeom>
          <a:solidFill>
            <a:srgbClr val="F1FAFA"/>
          </a:solidFill>
          <a:ln w="9525">
            <a:solidFill>
              <a:srgbClr val="D7ECEC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3355848" y="1161288"/>
            <a:ext cx="365760" cy="365760"/>
          </a:xfrm>
          <a:prstGeom prst="ellipse">
            <a:avLst/>
          </a:prstGeom>
          <a:solidFill>
            <a:srgbClr val="379B9A"/>
          </a:solidFill>
          <a:ln w="12700">
            <a:solidFill>
              <a:srgbClr val="379B9A"/>
            </a:solidFill>
            <a:prstDash val="solid"/>
          </a:ln>
        </p:spPr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43630" y="1249070"/>
            <a:ext cx="190195" cy="190195"/>
          </a:xfrm>
          <a:prstGeom prst="rect">
            <a:avLst/>
          </a:prstGeom>
        </p:spPr>
      </p:pic>
      <p:sp>
        <p:nvSpPr>
          <p:cNvPr id="11" name="Text 7"/>
          <p:cNvSpPr txBox="1"/>
          <p:nvPr/>
        </p:nvSpPr>
        <p:spPr>
          <a:xfrm>
            <a:off x="3813048" y="1115568"/>
            <a:ext cx="2011680" cy="8503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special hardware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Runs on a laptop GPU; any phone/dashcam is the sensor</a:t>
            </a:r>
            <a:endParaRPr lang="en-US" sz="1100" dirty="0"/>
          </a:p>
        </p:txBody>
      </p:sp>
      <p:sp>
        <p:nvSpPr>
          <p:cNvPr id="12" name="Shape 8"/>
          <p:cNvSpPr/>
          <p:nvPr/>
        </p:nvSpPr>
        <p:spPr>
          <a:xfrm>
            <a:off x="6035040" y="1051560"/>
            <a:ext cx="2651760" cy="960120"/>
          </a:xfrm>
          <a:prstGeom prst="roundRect">
            <a:avLst>
              <a:gd name="adj" fmla="val 7619"/>
            </a:avLst>
          </a:prstGeom>
          <a:solidFill>
            <a:srgbClr val="F1FAFA"/>
          </a:solidFill>
          <a:ln w="9525">
            <a:solidFill>
              <a:srgbClr val="D7ECEC"/>
            </a:solidFill>
            <a:prstDash val="solid"/>
          </a:ln>
        </p:spPr>
      </p:sp>
      <p:sp>
        <p:nvSpPr>
          <p:cNvPr id="13" name="Shape 9"/>
          <p:cNvSpPr/>
          <p:nvPr/>
        </p:nvSpPr>
        <p:spPr>
          <a:xfrm>
            <a:off x="6144768" y="1161288"/>
            <a:ext cx="365760" cy="365760"/>
          </a:xfrm>
          <a:prstGeom prst="ellipse">
            <a:avLst/>
          </a:prstGeom>
          <a:solidFill>
            <a:srgbClr val="379B9A"/>
          </a:solidFill>
          <a:ln w="12700">
            <a:solidFill>
              <a:srgbClr val="379B9A"/>
            </a:solidFill>
            <a:prstDash val="solid"/>
          </a:ln>
        </p:spPr>
      </p:sp>
      <p:pic>
        <p:nvPicPr>
          <p:cNvPr id="1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32550" y="1249070"/>
            <a:ext cx="190195" cy="190195"/>
          </a:xfrm>
          <a:prstGeom prst="rect">
            <a:avLst/>
          </a:prstGeom>
        </p:spPr>
      </p:pic>
      <p:sp>
        <p:nvSpPr>
          <p:cNvPr id="15" name="Text 10"/>
          <p:cNvSpPr txBox="1"/>
          <p:nvPr/>
        </p:nvSpPr>
        <p:spPr>
          <a:xfrm>
            <a:off x="6601968" y="1115568"/>
            <a:ext cx="2011680" cy="8503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Open data &amp; models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Pretrained on RDD2022 (47k+ images); open-source stack, zero licence cost</a:t>
            </a:r>
            <a:endParaRPr lang="en-US" sz="1100" dirty="0"/>
          </a:p>
        </p:txBody>
      </p:sp>
      <p:sp>
        <p:nvSpPr>
          <p:cNvPr id="16" name="Text 11"/>
          <p:cNvSpPr txBox="1"/>
          <p:nvPr/>
        </p:nvSpPr>
        <p:spPr>
          <a:xfrm>
            <a:off x="457200" y="217627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79B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Challenges &amp; risks  →  our strategies</a:t>
            </a:r>
            <a:endParaRPr lang="en-US" sz="140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2487168"/>
          <a:ext cx="8229600" cy="914400"/>
        </p:xfrm>
        <a:graphic>
          <a:graphicData uri="http://schemas.openxmlformats.org/drawingml/2006/table">
            <a:tbl>
              <a:tblPr/>
              <a:tblGrid>
                <a:gridCol w="2834640"/>
                <a:gridCol w="5394960"/>
              </a:tblGrid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Challenge / risk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D7E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79B9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Strategy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D7E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79B9A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37415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AI misses some hazards (trees, debris)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D7E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7415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Fine-tune on labelled disaster photos; a CLIP double-check already stops false flood alarms on dry roads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D7E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37415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Intermittent / noisy GPS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D7E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7415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Time interpolation + heading smoothing; gap flag per hazard; road map-matching next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D7E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37415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Unknown camera mounting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D7E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7415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Configurable height / pitch / FOV; auto-calibration from horizon &amp; lane lines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D7E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37415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Same hazard seen in many frames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D7E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7415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ByteTrack identities + DBSCAN clustering → one feature per real hazard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D7E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549640" y="4864608"/>
            <a:ext cx="457200" cy="237744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4" type="title" hasCustomPrompt="1"/>
          </p:nvPr>
        </p:nvSpPr>
        <p:spPr>
          <a:xfrm>
            <a:off x="1828800" y="109728"/>
            <a:ext cx="5486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IMPACT AND BENEFITS</a:t>
            </a:r>
            <a:endParaRPr lang="en-US" sz="2200" dirty="0"/>
          </a:p>
        </p:txBody>
      </p:sp>
      <p:sp>
        <p:nvSpPr>
          <p:cNvPr id="3" name="Shape 1"/>
          <p:cNvSpPr/>
          <p:nvPr/>
        </p:nvSpPr>
        <p:spPr>
          <a:xfrm>
            <a:off x="457200" y="749808"/>
            <a:ext cx="2651760" cy="1645920"/>
          </a:xfrm>
          <a:prstGeom prst="roundRect">
            <a:avLst>
              <a:gd name="adj" fmla="val 4444"/>
            </a:avLst>
          </a:prstGeom>
          <a:solidFill>
            <a:srgbClr val="F1FAFA"/>
          </a:solidFill>
          <a:ln w="9525">
            <a:solidFill>
              <a:srgbClr val="D7ECEC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594360" y="868680"/>
            <a:ext cx="420624" cy="420624"/>
          </a:xfrm>
          <a:prstGeom prst="ellipse">
            <a:avLst/>
          </a:prstGeom>
          <a:solidFill>
            <a:srgbClr val="379B9A"/>
          </a:solidFill>
          <a:ln w="12700">
            <a:solidFill>
              <a:srgbClr val="379B9A"/>
            </a:solidFill>
            <a:prstDash val="solid"/>
          </a:ln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95310" y="969630"/>
            <a:ext cx="218724" cy="218724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594360" y="1371600"/>
            <a:ext cx="2377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Municipal corporations</a:t>
            </a:r>
            <a:endParaRPr lang="en-US" sz="1400" dirty="0"/>
          </a:p>
        </p:txBody>
      </p:sp>
      <p:sp>
        <p:nvSpPr>
          <p:cNvPr id="7" name="Text 4"/>
          <p:cNvSpPr txBox="1"/>
          <p:nvPr/>
        </p:nvSpPr>
        <p:spPr>
          <a:xfrm>
            <a:off x="594360" y="1664208"/>
            <a:ext cx="237744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Continuous pothole &amp; road-damage inventory from buses, garbage trucks, taxis — prioritise repairs by severity</a:t>
            </a:r>
            <a:endParaRPr lang="en-US" sz="1100" dirty="0"/>
          </a:p>
        </p:txBody>
      </p:sp>
      <p:sp>
        <p:nvSpPr>
          <p:cNvPr id="8" name="Shape 5"/>
          <p:cNvSpPr/>
          <p:nvPr/>
        </p:nvSpPr>
        <p:spPr>
          <a:xfrm>
            <a:off x="3246120" y="749808"/>
            <a:ext cx="2651760" cy="1645920"/>
          </a:xfrm>
          <a:prstGeom prst="roundRect">
            <a:avLst>
              <a:gd name="adj" fmla="val 4444"/>
            </a:avLst>
          </a:prstGeom>
          <a:solidFill>
            <a:srgbClr val="F1FAFA"/>
          </a:solidFill>
          <a:ln w="9525">
            <a:solidFill>
              <a:srgbClr val="D7ECEC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3383280" y="868680"/>
            <a:ext cx="420624" cy="420624"/>
          </a:xfrm>
          <a:prstGeom prst="ellipse">
            <a:avLst/>
          </a:prstGeom>
          <a:solidFill>
            <a:srgbClr val="379B9A"/>
          </a:solidFill>
          <a:ln w="12700">
            <a:solidFill>
              <a:srgbClr val="379B9A"/>
            </a:solidFill>
            <a:prstDash val="solid"/>
          </a:ln>
        </p:spPr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84230" y="969630"/>
            <a:ext cx="218724" cy="218724"/>
          </a:xfrm>
          <a:prstGeom prst="rect">
            <a:avLst/>
          </a:prstGeom>
        </p:spPr>
      </p:pic>
      <p:sp>
        <p:nvSpPr>
          <p:cNvPr id="11" name="Text 7"/>
          <p:cNvSpPr txBox="1"/>
          <p:nvPr/>
        </p:nvSpPr>
        <p:spPr>
          <a:xfrm>
            <a:off x="3383280" y="1371600"/>
            <a:ext cx="2377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Disaster response teams</a:t>
            </a:r>
            <a:endParaRPr lang="en-US" sz="1400" dirty="0"/>
          </a:p>
        </p:txBody>
      </p:sp>
      <p:sp>
        <p:nvSpPr>
          <p:cNvPr id="12" name="Text 8"/>
          <p:cNvSpPr txBox="1"/>
          <p:nvPr/>
        </p:nvSpPr>
        <p:spPr>
          <a:xfrm>
            <a:off x="3383280" y="1664208"/>
            <a:ext cx="237744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Within hours of a storm or landslide: which roads are blocked, flooded or hit by fallen lines</a:t>
            </a:r>
            <a:endParaRPr lang="en-US" sz="1100" dirty="0"/>
          </a:p>
        </p:txBody>
      </p:sp>
      <p:sp>
        <p:nvSpPr>
          <p:cNvPr id="13" name="Shape 9"/>
          <p:cNvSpPr/>
          <p:nvPr/>
        </p:nvSpPr>
        <p:spPr>
          <a:xfrm>
            <a:off x="6035040" y="749808"/>
            <a:ext cx="2651760" cy="1645920"/>
          </a:xfrm>
          <a:prstGeom prst="roundRect">
            <a:avLst>
              <a:gd name="adj" fmla="val 4444"/>
            </a:avLst>
          </a:prstGeom>
          <a:solidFill>
            <a:srgbClr val="F1FAFA"/>
          </a:solidFill>
          <a:ln w="9525">
            <a:solidFill>
              <a:srgbClr val="D7ECEC"/>
            </a:solidFill>
            <a:prstDash val="solid"/>
          </a:ln>
        </p:spPr>
      </p:sp>
      <p:sp>
        <p:nvSpPr>
          <p:cNvPr id="14" name="Shape 10"/>
          <p:cNvSpPr/>
          <p:nvPr/>
        </p:nvSpPr>
        <p:spPr>
          <a:xfrm>
            <a:off x="6172200" y="868680"/>
            <a:ext cx="420624" cy="420624"/>
          </a:xfrm>
          <a:prstGeom prst="ellipse">
            <a:avLst/>
          </a:prstGeom>
          <a:solidFill>
            <a:srgbClr val="379B9A"/>
          </a:solidFill>
          <a:ln w="12700">
            <a:solidFill>
              <a:srgbClr val="379B9A"/>
            </a:solidFill>
            <a:prstDash val="solid"/>
          </a:ln>
        </p:spPr>
      </p:sp>
      <p:pic>
        <p:nvPicPr>
          <p:cNvPr id="15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73150" y="969630"/>
            <a:ext cx="218724" cy="218724"/>
          </a:xfrm>
          <a:prstGeom prst="rect">
            <a:avLst/>
          </a:prstGeom>
        </p:spPr>
      </p:pic>
      <p:sp>
        <p:nvSpPr>
          <p:cNvPr id="16" name="Text 11"/>
          <p:cNvSpPr txBox="1"/>
          <p:nvPr/>
        </p:nvSpPr>
        <p:spPr>
          <a:xfrm>
            <a:off x="6172200" y="1371600"/>
            <a:ext cx="2377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Citizens &amp; commuters</a:t>
            </a:r>
            <a:endParaRPr lang="en-US" sz="1400" dirty="0"/>
          </a:p>
        </p:txBody>
      </p:sp>
      <p:sp>
        <p:nvSpPr>
          <p:cNvPr id="17" name="Text 12"/>
          <p:cNvSpPr txBox="1"/>
          <p:nvPr/>
        </p:nvSpPr>
        <p:spPr>
          <a:xfrm>
            <a:off x="6172200" y="1664208"/>
            <a:ext cx="237744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Safer routing, fewer accidents and vehicle damage; transparent public hazard map</a:t>
            </a:r>
            <a:endParaRPr lang="en-US" sz="1100" dirty="0"/>
          </a:p>
        </p:txBody>
      </p:sp>
      <p:sp>
        <p:nvSpPr>
          <p:cNvPr id="18" name="Text 13"/>
          <p:cNvSpPr txBox="1"/>
          <p:nvPr/>
        </p:nvSpPr>
        <p:spPr>
          <a:xfrm>
            <a:off x="457200" y="2560320"/>
            <a:ext cx="4754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79B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Key benefits</a:t>
            </a:r>
            <a:endParaRPr lang="en-US" sz="1400" dirty="0"/>
          </a:p>
        </p:txBody>
      </p:sp>
      <p:sp>
        <p:nvSpPr>
          <p:cNvPr id="19" name="Shape 14"/>
          <p:cNvSpPr/>
          <p:nvPr/>
        </p:nvSpPr>
        <p:spPr>
          <a:xfrm>
            <a:off x="457200" y="2962656"/>
            <a:ext cx="146304" cy="146304"/>
          </a:xfrm>
          <a:prstGeom prst="ellipse">
            <a:avLst/>
          </a:prstGeom>
          <a:solidFill>
            <a:srgbClr val="F47B20"/>
          </a:solidFill>
          <a:ln w="12700">
            <a:solidFill>
              <a:srgbClr val="F47B20"/>
            </a:solidFill>
            <a:prstDash val="solid"/>
          </a:ln>
        </p:spPr>
      </p:sp>
      <p:sp>
        <p:nvSpPr>
          <p:cNvPr id="20" name="Text 15"/>
          <p:cNvSpPr txBox="1"/>
          <p:nvPr/>
        </p:nvSpPr>
        <p:spPr>
          <a:xfrm>
            <a:off x="731520" y="2880360"/>
            <a:ext cx="4572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Low cost — </a:t>
            </a:r>
            <a:pPr indent="0" marL="0">
              <a:buNone/>
            </a:pPr>
            <a:r>
              <a:rPr lang="en-US" sz="1200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reuses phones &amp; dashcams already on the road</a:t>
            </a:r>
            <a:endParaRPr lang="en-US" sz="1200" dirty="0"/>
          </a:p>
        </p:txBody>
      </p:sp>
      <p:sp>
        <p:nvSpPr>
          <p:cNvPr id="21" name="Shape 16"/>
          <p:cNvSpPr/>
          <p:nvPr/>
        </p:nvSpPr>
        <p:spPr>
          <a:xfrm>
            <a:off x="457200" y="3346704"/>
            <a:ext cx="146304" cy="146304"/>
          </a:xfrm>
          <a:prstGeom prst="ellipse">
            <a:avLst/>
          </a:prstGeom>
          <a:solidFill>
            <a:srgbClr val="F47B20"/>
          </a:solidFill>
          <a:ln w="12700">
            <a:solidFill>
              <a:srgbClr val="F47B20"/>
            </a:solidFill>
            <a:prstDash val="solid"/>
          </a:ln>
        </p:spPr>
      </p:sp>
      <p:sp>
        <p:nvSpPr>
          <p:cNvPr id="22" name="Text 17"/>
          <p:cNvSpPr txBox="1"/>
          <p:nvPr/>
        </p:nvSpPr>
        <p:spPr>
          <a:xfrm>
            <a:off x="731520" y="3264408"/>
            <a:ext cx="4572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Fast — </a:t>
            </a:r>
            <a:pPr indent="0" marL="0">
              <a:buNone/>
            </a:pPr>
            <a:r>
              <a:rPr lang="en-US" sz="1200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hazard map in minutes, not days of surveys</a:t>
            </a:r>
            <a:endParaRPr lang="en-US" sz="1200" dirty="0"/>
          </a:p>
        </p:txBody>
      </p:sp>
      <p:sp>
        <p:nvSpPr>
          <p:cNvPr id="23" name="Shape 18"/>
          <p:cNvSpPr/>
          <p:nvPr/>
        </p:nvSpPr>
        <p:spPr>
          <a:xfrm>
            <a:off x="457200" y="3730752"/>
            <a:ext cx="146304" cy="146304"/>
          </a:xfrm>
          <a:prstGeom prst="ellipse">
            <a:avLst/>
          </a:prstGeom>
          <a:solidFill>
            <a:srgbClr val="F47B20"/>
          </a:solidFill>
          <a:ln w="12700">
            <a:solidFill>
              <a:srgbClr val="F47B20"/>
            </a:solidFill>
            <a:prstDash val="solid"/>
          </a:ln>
        </p:spPr>
      </p:sp>
      <p:sp>
        <p:nvSpPr>
          <p:cNvPr id="24" name="Text 19"/>
          <p:cNvSpPr txBox="1"/>
          <p:nvPr/>
        </p:nvSpPr>
        <p:spPr>
          <a:xfrm>
            <a:off x="731520" y="3648456"/>
            <a:ext cx="4572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Interoperable — </a:t>
            </a:r>
            <a:pPr indent="0" marL="0">
              <a:buNone/>
            </a:pPr>
            <a:r>
              <a:rPr lang="en-US" sz="1200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standard GeoJSON for any GIS or city dashboard</a:t>
            </a:r>
            <a:endParaRPr lang="en-US" sz="1200" dirty="0"/>
          </a:p>
        </p:txBody>
      </p:sp>
      <p:sp>
        <p:nvSpPr>
          <p:cNvPr id="25" name="Shape 20"/>
          <p:cNvSpPr/>
          <p:nvPr/>
        </p:nvSpPr>
        <p:spPr>
          <a:xfrm>
            <a:off x="457200" y="4114800"/>
            <a:ext cx="146304" cy="146304"/>
          </a:xfrm>
          <a:prstGeom prst="ellipse">
            <a:avLst/>
          </a:prstGeom>
          <a:solidFill>
            <a:srgbClr val="F47B20"/>
          </a:solidFill>
          <a:ln w="12700">
            <a:solidFill>
              <a:srgbClr val="F47B20"/>
            </a:solidFill>
            <a:prstDash val="solid"/>
          </a:ln>
        </p:spPr>
      </p:sp>
      <p:sp>
        <p:nvSpPr>
          <p:cNvPr id="26" name="Text 21"/>
          <p:cNvSpPr txBox="1"/>
          <p:nvPr/>
        </p:nvSpPr>
        <p:spPr>
          <a:xfrm>
            <a:off x="731520" y="4032504"/>
            <a:ext cx="4572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Scalable — </a:t>
            </a:r>
            <a:pPr indent="0" marL="0">
              <a:buNone/>
            </a:pPr>
            <a:r>
              <a:rPr lang="en-US" sz="1200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every vehicle adds coverage; repeat drives confirm</a:t>
            </a:r>
            <a:endParaRPr lang="en-US" sz="1200" dirty="0"/>
          </a:p>
        </p:txBody>
      </p:sp>
      <p:pic>
        <p:nvPicPr>
          <p:cNvPr id="27" name="Image 3" descr="/private/tmp/claude-501/-Applications-XAMPP-xamppfiles-htdocs-hackathon/dcf9ca28-56d8-4579-98cf-baafdae8adea/scratchpad/ppt/india_detect.jp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60720" y="2578608"/>
            <a:ext cx="2926080" cy="1645920"/>
          </a:xfrm>
          <a:prstGeom prst="rect">
            <a:avLst/>
          </a:prstGeom>
          <a:effectLst>
            <a:outerShdw sx="100000" sy="100000" kx="0" ky="0" algn="bl" rotWithShape="0" blurRad="63500" dist="25400" dir="5400000">
              <a:srgbClr val="000000">
                <a:alpha val="22000"/>
              </a:srgbClr>
            </a:outerShdw>
          </a:effectLst>
        </p:spPr>
      </p:pic>
      <p:sp>
        <p:nvSpPr>
          <p:cNvPr id="28" name="Text 22"/>
          <p:cNvSpPr txBox="1"/>
          <p:nvPr/>
        </p:nvSpPr>
        <p:spPr>
          <a:xfrm>
            <a:off x="5760720" y="4279392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i="1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Tested on an Indian highway (NH3, Rohtang): flooding detected, high severity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549640" y="4864608"/>
            <a:ext cx="457200" cy="237744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4" type="title" hasCustomPrompt="1"/>
          </p:nvPr>
        </p:nvSpPr>
        <p:spPr>
          <a:xfrm>
            <a:off x="1828800" y="109728"/>
            <a:ext cx="5486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RESEARCH AND REFERENCES</a:t>
            </a:r>
            <a:endParaRPr lang="en-US" sz="2200" dirty="0"/>
          </a:p>
        </p:txBody>
      </p:sp>
      <p:sp>
        <p:nvSpPr>
          <p:cNvPr id="3" name="Shape 1"/>
          <p:cNvSpPr/>
          <p:nvPr/>
        </p:nvSpPr>
        <p:spPr>
          <a:xfrm>
            <a:off x="457200" y="804672"/>
            <a:ext cx="292608" cy="292608"/>
          </a:xfrm>
          <a:prstGeom prst="ellipse">
            <a:avLst/>
          </a:prstGeom>
          <a:solidFill>
            <a:srgbClr val="379B9A"/>
          </a:solidFill>
          <a:ln w="12700">
            <a:solidFill>
              <a:srgbClr val="379B9A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457200" y="804672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100" dirty="0"/>
          </a:p>
        </p:txBody>
      </p:sp>
      <p:sp>
        <p:nvSpPr>
          <p:cNvPr id="5" name="Text 3"/>
          <p:cNvSpPr txBox="1"/>
          <p:nvPr/>
        </p:nvSpPr>
        <p:spPr>
          <a:xfrm>
            <a:off x="868680" y="777240"/>
            <a:ext cx="36118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RDD2022 road damage dataset</a:t>
            </a:r>
            <a:endParaRPr lang="en-US" sz="1100" dirty="0"/>
          </a:p>
          <a:p>
            <a:pPr indent="0" marL="0">
              <a:buNone/>
            </a:pPr>
            <a:r>
              <a:rPr lang="en-US" sz="1100" u="sng" dirty="0">
                <a:solidFill>
                  <a:srgbClr val="379B9A"/>
                </a:solidFill>
                <a:latin typeface="Arial" pitchFamily="34" charset="0"/>
                <a:ea typeface="Arial" pitchFamily="34" charset="-122"/>
                <a:cs typeface="Arial" pitchFamily="34" charset="-120"/>
                <a:hlinkClick r:id="rId1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Arya et al., arXiv:2209.08538 · github.com/sekilab/RoadDamageDetector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457200" y="1581912"/>
            <a:ext cx="292608" cy="292608"/>
          </a:xfrm>
          <a:prstGeom prst="ellipse">
            <a:avLst/>
          </a:prstGeom>
          <a:solidFill>
            <a:srgbClr val="379B9A"/>
          </a:solidFill>
          <a:ln w="12700">
            <a:solidFill>
              <a:srgbClr val="379B9A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457200" y="1581912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100" dirty="0"/>
          </a:p>
        </p:txBody>
      </p:sp>
      <p:sp>
        <p:nvSpPr>
          <p:cNvPr id="8" name="Text 6"/>
          <p:cNvSpPr txBox="1"/>
          <p:nvPr/>
        </p:nvSpPr>
        <p:spPr>
          <a:xfrm>
            <a:off x="868680" y="1554480"/>
            <a:ext cx="36118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comma2k19 driving dataset (video + GNSS)</a:t>
            </a:r>
            <a:endParaRPr lang="en-US" sz="1100" dirty="0"/>
          </a:p>
          <a:p>
            <a:pPr indent="0" marL="0">
              <a:buNone/>
            </a:pPr>
            <a:r>
              <a:rPr lang="en-US" sz="1100" u="sng" dirty="0">
                <a:solidFill>
                  <a:srgbClr val="379B9A"/>
                </a:solidFill>
                <a:latin typeface="Arial" pitchFamily="34" charset="0"/>
                <a:ea typeface="Arial" pitchFamily="34" charset="-122"/>
                <a:cs typeface="Arial" pitchFamily="34" charset="-120"/>
                <a:hlinkClick r:id="rId2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github.com/commaai/comma2k19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57200" y="2359152"/>
            <a:ext cx="292608" cy="292608"/>
          </a:xfrm>
          <a:prstGeom prst="ellipse">
            <a:avLst/>
          </a:prstGeom>
          <a:solidFill>
            <a:srgbClr val="379B9A"/>
          </a:solidFill>
          <a:ln w="12700">
            <a:solidFill>
              <a:srgbClr val="379B9A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457200" y="2359152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100" dirty="0"/>
          </a:p>
        </p:txBody>
      </p:sp>
      <p:sp>
        <p:nvSpPr>
          <p:cNvPr id="11" name="Text 9"/>
          <p:cNvSpPr txBox="1"/>
          <p:nvPr/>
        </p:nvSpPr>
        <p:spPr>
          <a:xfrm>
            <a:off x="868680" y="2331720"/>
            <a:ext cx="36118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YOLOv8 / YOLO-World (Ultralytics)</a:t>
            </a:r>
            <a:endParaRPr lang="en-US" sz="1100" dirty="0"/>
          </a:p>
          <a:p>
            <a:pPr indent="0" marL="0">
              <a:buNone/>
            </a:pPr>
            <a:r>
              <a:rPr lang="en-US" sz="1100" u="sng" dirty="0">
                <a:solidFill>
                  <a:srgbClr val="379B9A"/>
                </a:solidFill>
                <a:latin typeface="Arial" pitchFamily="34" charset="0"/>
                <a:ea typeface="Arial" pitchFamily="34" charset="-122"/>
                <a:cs typeface="Arial" pitchFamily="34" charset="-120"/>
                <a:hlinkClick r:id="rId3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docs.ultralytics.com · Cheng et al., YOLO-World, CVPR 2024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457200" y="3136392"/>
            <a:ext cx="292608" cy="292608"/>
          </a:xfrm>
          <a:prstGeom prst="ellipse">
            <a:avLst/>
          </a:prstGeom>
          <a:solidFill>
            <a:srgbClr val="379B9A"/>
          </a:solidFill>
          <a:ln w="12700">
            <a:solidFill>
              <a:srgbClr val="379B9A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457200" y="3136392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100" dirty="0"/>
          </a:p>
        </p:txBody>
      </p:sp>
      <p:sp>
        <p:nvSpPr>
          <p:cNvPr id="14" name="Text 12"/>
          <p:cNvSpPr txBox="1"/>
          <p:nvPr/>
        </p:nvSpPr>
        <p:spPr>
          <a:xfrm>
            <a:off x="868680" y="3108960"/>
            <a:ext cx="36118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RDD-trained YOLOv8s weights</a:t>
            </a:r>
            <a:endParaRPr lang="en-US" sz="1100" dirty="0"/>
          </a:p>
          <a:p>
            <a:pPr indent="0" marL="0">
              <a:buNone/>
            </a:pPr>
            <a:r>
              <a:rPr lang="en-US" sz="1100" u="sng" dirty="0">
                <a:solidFill>
                  <a:srgbClr val="379B9A"/>
                </a:solidFill>
                <a:latin typeface="Arial" pitchFamily="34" charset="0"/>
                <a:ea typeface="Arial" pitchFamily="34" charset="-122"/>
                <a:cs typeface="Arial" pitchFamily="34" charset="-120"/>
                <a:hlinkClick r:id="rId4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github.com/oracl4/RoadDamageDetection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457200" y="3913632"/>
            <a:ext cx="292608" cy="292608"/>
          </a:xfrm>
          <a:prstGeom prst="ellipse">
            <a:avLst/>
          </a:prstGeom>
          <a:solidFill>
            <a:srgbClr val="379B9A"/>
          </a:solidFill>
          <a:ln w="12700">
            <a:solidFill>
              <a:srgbClr val="379B9A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457200" y="3913632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100" dirty="0"/>
          </a:p>
        </p:txBody>
      </p:sp>
      <p:sp>
        <p:nvSpPr>
          <p:cNvPr id="17" name="Text 15"/>
          <p:cNvSpPr txBox="1"/>
          <p:nvPr/>
        </p:nvSpPr>
        <p:spPr>
          <a:xfrm>
            <a:off x="868680" y="3886200"/>
            <a:ext cx="36118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CLIP: zero-shot image–text matching</a:t>
            </a:r>
            <a:endParaRPr lang="en-US" sz="1100" dirty="0"/>
          </a:p>
          <a:p>
            <a:pPr indent="0" marL="0">
              <a:buNone/>
            </a:pPr>
            <a:r>
              <a:rPr lang="en-US" sz="1100" u="sng" dirty="0">
                <a:solidFill>
                  <a:srgbClr val="379B9A"/>
                </a:solidFill>
                <a:latin typeface="Arial" pitchFamily="34" charset="0"/>
                <a:ea typeface="Arial" pitchFamily="34" charset="-122"/>
                <a:cs typeface="Arial" pitchFamily="34" charset="-120"/>
                <a:hlinkClick r:id="rId5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Radford et al., ICML 2021 · github.com/openai/CLIP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4663440" y="804672"/>
            <a:ext cx="292608" cy="292608"/>
          </a:xfrm>
          <a:prstGeom prst="ellipse">
            <a:avLst/>
          </a:prstGeom>
          <a:solidFill>
            <a:srgbClr val="379B9A"/>
          </a:solidFill>
          <a:ln w="12700">
            <a:solidFill>
              <a:srgbClr val="379B9A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4663440" y="804672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1100" dirty="0"/>
          </a:p>
        </p:txBody>
      </p:sp>
      <p:sp>
        <p:nvSpPr>
          <p:cNvPr id="20" name="Text 18"/>
          <p:cNvSpPr txBox="1"/>
          <p:nvPr/>
        </p:nvSpPr>
        <p:spPr>
          <a:xfrm>
            <a:off x="5074920" y="777240"/>
            <a:ext cx="36118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ByteTrack multi-object tracking</a:t>
            </a:r>
            <a:endParaRPr lang="en-US" sz="1100" dirty="0"/>
          </a:p>
          <a:p>
            <a:pPr indent="0" marL="0">
              <a:buNone/>
            </a:pPr>
            <a:r>
              <a:rPr lang="en-US" sz="1100" u="sng" dirty="0">
                <a:solidFill>
                  <a:srgbClr val="379B9A"/>
                </a:solidFill>
                <a:latin typeface="Arial" pitchFamily="34" charset="0"/>
                <a:ea typeface="Arial" pitchFamily="34" charset="-122"/>
                <a:cs typeface="Arial" pitchFamily="34" charset="-120"/>
                <a:hlinkClick r:id="rId6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Zhang et al., ECCV 2022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4663440" y="1581912"/>
            <a:ext cx="292608" cy="292608"/>
          </a:xfrm>
          <a:prstGeom prst="ellipse">
            <a:avLst/>
          </a:prstGeom>
          <a:solidFill>
            <a:srgbClr val="379B9A"/>
          </a:solidFill>
          <a:ln w="12700">
            <a:solidFill>
              <a:srgbClr val="379B9A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4663440" y="1581912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</a:t>
            </a:r>
            <a:endParaRPr lang="en-US" sz="1100" dirty="0"/>
          </a:p>
        </p:txBody>
      </p:sp>
      <p:sp>
        <p:nvSpPr>
          <p:cNvPr id="23" name="Text 21"/>
          <p:cNvSpPr txBox="1"/>
          <p:nvPr/>
        </p:nvSpPr>
        <p:spPr>
          <a:xfrm>
            <a:off x="5074920" y="1554480"/>
            <a:ext cx="36118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DBSCAN density clustering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Ester et al., KDD 1996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4663440" y="2359152"/>
            <a:ext cx="292608" cy="292608"/>
          </a:xfrm>
          <a:prstGeom prst="ellipse">
            <a:avLst/>
          </a:prstGeom>
          <a:solidFill>
            <a:srgbClr val="379B9A"/>
          </a:solidFill>
          <a:ln w="12700">
            <a:solidFill>
              <a:srgbClr val="379B9A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4663440" y="2359152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</a:t>
            </a:r>
            <a:endParaRPr lang="en-US" sz="1100" dirty="0"/>
          </a:p>
        </p:txBody>
      </p:sp>
      <p:sp>
        <p:nvSpPr>
          <p:cNvPr id="26" name="Text 24"/>
          <p:cNvSpPr txBox="1"/>
          <p:nvPr/>
        </p:nvSpPr>
        <p:spPr>
          <a:xfrm>
            <a:off x="5074920" y="2331720"/>
            <a:ext cx="36118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GeoJSON format · Leaflet maps</a:t>
            </a:r>
            <a:endParaRPr lang="en-US" sz="1100" dirty="0"/>
          </a:p>
          <a:p>
            <a:pPr indent="0" marL="0">
              <a:buNone/>
            </a:pPr>
            <a:r>
              <a:rPr lang="en-US" sz="1100" u="sng" dirty="0">
                <a:solidFill>
                  <a:srgbClr val="379B9A"/>
                </a:solidFill>
                <a:latin typeface="Arial" pitchFamily="34" charset="0"/>
                <a:ea typeface="Arial" pitchFamily="34" charset="-122"/>
                <a:cs typeface="Arial" pitchFamily="34" charset="-120"/>
                <a:hlinkClick r:id="rId7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IETF RFC 7946 · leafletjs.com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4663440" y="3136392"/>
            <a:ext cx="292608" cy="292608"/>
          </a:xfrm>
          <a:prstGeom prst="ellipse">
            <a:avLst/>
          </a:prstGeom>
          <a:solidFill>
            <a:srgbClr val="379B9A"/>
          </a:solidFill>
          <a:ln w="12700">
            <a:solidFill>
              <a:srgbClr val="379B9A"/>
            </a:solidFill>
            <a:prstDash val="solid"/>
          </a:ln>
        </p:spPr>
      </p:sp>
      <p:sp>
        <p:nvSpPr>
          <p:cNvPr id="28" name="Text 26"/>
          <p:cNvSpPr txBox="1"/>
          <p:nvPr/>
        </p:nvSpPr>
        <p:spPr>
          <a:xfrm>
            <a:off x="4663440" y="3136392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</a:t>
            </a:r>
            <a:endParaRPr lang="en-US" sz="1100" dirty="0"/>
          </a:p>
        </p:txBody>
      </p:sp>
      <p:sp>
        <p:nvSpPr>
          <p:cNvPr id="29" name="Text 27"/>
          <p:cNvSpPr txBox="1"/>
          <p:nvPr/>
        </p:nvSpPr>
        <p:spPr>
          <a:xfrm>
            <a:off x="5074920" y="3108960"/>
            <a:ext cx="36118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Our prototype source code</a:t>
            </a:r>
            <a:endParaRPr lang="en-US" sz="1100" dirty="0"/>
          </a:p>
          <a:p>
            <a:pPr indent="0" marL="0">
              <a:buNone/>
            </a:pPr>
            <a:r>
              <a:rPr lang="en-US" sz="1100" u="sng" dirty="0">
                <a:solidFill>
                  <a:srgbClr val="379B9A"/>
                </a:solidFill>
                <a:latin typeface="Arial" pitchFamily="34" charset="0"/>
                <a:ea typeface="Arial" pitchFamily="34" charset="-122"/>
                <a:cs typeface="Arial" pitchFamily="34" charset="-120"/>
                <a:hlinkClick r:id="rId8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github.com/aryan270506/Team-UniVerse-Geo-AI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4663440" y="3913632"/>
            <a:ext cx="292608" cy="292608"/>
          </a:xfrm>
          <a:prstGeom prst="ellipse">
            <a:avLst/>
          </a:prstGeom>
          <a:solidFill>
            <a:srgbClr val="379B9A"/>
          </a:solidFill>
          <a:ln w="12700">
            <a:solidFill>
              <a:srgbClr val="379B9A"/>
            </a:solidFill>
            <a:prstDash val="solid"/>
          </a:ln>
        </p:spPr>
      </p:sp>
      <p:sp>
        <p:nvSpPr>
          <p:cNvPr id="31" name="Text 29"/>
          <p:cNvSpPr txBox="1"/>
          <p:nvPr/>
        </p:nvSpPr>
        <p:spPr>
          <a:xfrm>
            <a:off x="4663440" y="3913632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</a:t>
            </a:r>
            <a:endParaRPr lang="en-US" sz="1100" dirty="0"/>
          </a:p>
        </p:txBody>
      </p:sp>
      <p:sp>
        <p:nvSpPr>
          <p:cNvPr id="32" name="Text 30"/>
          <p:cNvSpPr txBox="1"/>
          <p:nvPr/>
        </p:nvSpPr>
        <p:spPr>
          <a:xfrm>
            <a:off x="5074920" y="3886200"/>
            <a:ext cx="36118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Indian road footage (NH3 demo)</a:t>
            </a:r>
            <a:endParaRPr lang="en-US" sz="1100" dirty="0"/>
          </a:p>
          <a:p>
            <a:pPr indent="0" marL="0">
              <a:buNone/>
            </a:pPr>
            <a:r>
              <a:rPr lang="en-US" sz="1100" u="sng" dirty="0">
                <a:solidFill>
                  <a:srgbClr val="379B9A"/>
                </a:solidFill>
                <a:latin typeface="Arial" pitchFamily="34" charset="0"/>
                <a:ea typeface="Arial" pitchFamily="34" charset="-122"/>
                <a:cs typeface="Arial" pitchFamily="34" charset="-120"/>
                <a:hlinkClick r:id="rId9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KSOFTECH, CC BY 3.0, via Wikimedia Commons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549640" y="4864608"/>
            <a:ext cx="457200" cy="237744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rial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HazardMap — Fusion 2026 Round 1</dc:title>
  <dc:subject>PptxGenJS Presentation</dc:subject>
  <dc:creator>Team UniVerse</dc:creator>
  <cp:lastModifiedBy>Team UniVerse</cp:lastModifiedBy>
  <cp:revision>1</cp:revision>
  <dcterms:created xsi:type="dcterms:W3CDTF">2026-10-09T08:54:07Z</dcterms:created>
  <dcterms:modified xsi:type="dcterms:W3CDTF">2026-10-09T08:54:07Z</dcterms:modified>
</cp:coreProperties>
</file>